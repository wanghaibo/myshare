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sldIdLst>
    <p:sldId id="256" r:id="rId4"/>
    <p:sldId id="287" r:id="rId5"/>
    <p:sldId id="290" r:id="rId6"/>
    <p:sldId id="288" r:id="rId7"/>
    <p:sldId id="292" r:id="rId8"/>
    <p:sldId id="293" r:id="rId9"/>
    <p:sldId id="257" r:id="rId10"/>
    <p:sldId id="271" r:id="rId11"/>
    <p:sldId id="272" r:id="rId12"/>
    <p:sldId id="273" r:id="rId13"/>
    <p:sldId id="274" r:id="rId14"/>
    <p:sldId id="275" r:id="rId15"/>
    <p:sldId id="276" r:id="rId16"/>
    <p:sldId id="277" r:id="rId17"/>
    <p:sldId id="262" r:id="rId18"/>
    <p:sldId id="278" r:id="rId19"/>
    <p:sldId id="279" r:id="rId20"/>
    <p:sldId id="280" r:id="rId21"/>
    <p:sldId id="281" r:id="rId22"/>
    <p:sldId id="282" r:id="rId23"/>
    <p:sldId id="295" r:id="rId24"/>
    <p:sldId id="283" r:id="rId25"/>
    <p:sldId id="300" r:id="rId26"/>
    <p:sldId id="301" r:id="rId27"/>
    <p:sldId id="302" r:id="rId28"/>
    <p:sldId id="303" r:id="rId29"/>
    <p:sldId id="304" r:id="rId30"/>
    <p:sldId id="284" r:id="rId31"/>
    <p:sldId id="305" r:id="rId32"/>
    <p:sldId id="306" r:id="rId33"/>
    <p:sldId id="307" r:id="rId34"/>
    <p:sldId id="308" r:id="rId35"/>
    <p:sldId id="309" r:id="rId36"/>
    <p:sldId id="311" r:id="rId37"/>
    <p:sldId id="285" r:id="rId38"/>
    <p:sldId id="313" r:id="rId39"/>
    <p:sldId id="314" r:id="rId40"/>
    <p:sldId id="315" r:id="rId41"/>
    <p:sldId id="318" r:id="rId42"/>
    <p:sldId id="320" r:id="rId43"/>
    <p:sldId id="321" r:id="rId44"/>
    <p:sldId id="322" r:id="rId45"/>
    <p:sldId id="323" r:id="rId46"/>
    <p:sldId id="316" r:id="rId47"/>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1541" y="-86"/>
      </p:cViewPr>
      <p:guideLst>
        <p:guide orient="horz" pos="2160"/>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6778"/>
            <a:ext cx="9144000" cy="1069514"/>
          </a:xfrm>
          <a:prstGeom prst="rect">
            <a:avLst/>
          </a:prstGeom>
        </p:spPr>
        <p:txBody>
          <a:bodyPr anchor="ctr"/>
          <a:lstStyle>
            <a:lvl1pPr>
              <a:defRPr b="1"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ltLang="ko-KR" dirty="0" smtClean="0"/>
              <a:t> Free PPT _ Click to add title</a:t>
            </a:r>
            <a:endParaRPr lang="ko-KR" altLang="en-US" dirty="0"/>
          </a:p>
        </p:txBody>
      </p:sp>
      <p:sp>
        <p:nvSpPr>
          <p:cNvPr id="3" name="Content Placeholder 2"/>
          <p:cNvSpPr>
            <a:spLocks noGrp="1"/>
          </p:cNvSpPr>
          <p:nvPr>
            <p:ph idx="1"/>
          </p:nvPr>
        </p:nvSpPr>
        <p:spPr>
          <a:xfrm>
            <a:off x="457200" y="1600201"/>
            <a:ext cx="8229600" cy="460648"/>
          </a:xfrm>
          <a:prstGeom prst="rect">
            <a:avLst/>
          </a:prstGeom>
        </p:spPr>
        <p:txBody>
          <a:bodyPr anchor="ctr"/>
          <a:lstStyle>
            <a:lvl1pPr marL="0" indent="0">
              <a:buNone/>
              <a:defRPr sz="200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ltLang="ko-KR" dirty="0" smtClean="0"/>
              <a:t>Click to edit Master text styles</a:t>
            </a:r>
            <a:endParaRPr lang="en-US" altLang="ko-KR" dirty="0" smtClean="0"/>
          </a:p>
        </p:txBody>
      </p:sp>
      <p:sp>
        <p:nvSpPr>
          <p:cNvPr id="4" name="Content Placeholder 2"/>
          <p:cNvSpPr>
            <a:spLocks noGrp="1"/>
          </p:cNvSpPr>
          <p:nvPr>
            <p:ph idx="10"/>
          </p:nvPr>
        </p:nvSpPr>
        <p:spPr>
          <a:xfrm>
            <a:off x="467544" y="2276872"/>
            <a:ext cx="8229600" cy="3600400"/>
          </a:xfrm>
          <a:prstGeom prst="rect">
            <a:avLst/>
          </a:prstGeom>
        </p:spPr>
        <p:txBody>
          <a:bodyPr lIns="396000" anchor="t"/>
          <a:lstStyle>
            <a:lvl1pPr marL="0" indent="0">
              <a:buNone/>
              <a:defRPr sz="140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ltLang="ko-KR" dirty="0" smtClean="0"/>
              <a:t>Click to edit Master text styles</a:t>
            </a:r>
            <a:endParaRPr lang="en-US" altLang="ko-KR" dirty="0"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19672" y="0"/>
            <a:ext cx="7524328" cy="1069514"/>
          </a:xfrm>
          <a:prstGeom prst="rect">
            <a:avLst/>
          </a:prstGeom>
        </p:spPr>
        <p:txBody>
          <a:bodyPr anchor="ctr"/>
          <a:lstStyle>
            <a:lvl1pPr>
              <a:defRPr b="1" baseline="0">
                <a:solidFill>
                  <a:schemeClr val="tx1">
                    <a:lumMod val="75000"/>
                    <a:lumOff val="25000"/>
                  </a:schemeClr>
                </a:solidFill>
                <a:latin typeface="Arial" panose="020B0604020202020204" pitchFamily="34" charset="0"/>
                <a:cs typeface="Arial" panose="020B0604020202020204" pitchFamily="34" charset="0"/>
              </a:defRPr>
            </a:lvl1pPr>
          </a:lstStyle>
          <a:p>
            <a:r>
              <a:rPr lang="en-US" altLang="ko-KR" dirty="0" smtClean="0"/>
              <a:t>Free PPT _ Click to add title</a:t>
            </a:r>
            <a:endParaRPr lang="ko-KR" altLang="en-US" dirty="0"/>
          </a:p>
        </p:txBody>
      </p:sp>
      <p:sp>
        <p:nvSpPr>
          <p:cNvPr id="4" name="Content Placeholder 2"/>
          <p:cNvSpPr>
            <a:spLocks noGrp="1"/>
          </p:cNvSpPr>
          <p:nvPr>
            <p:ph idx="1"/>
          </p:nvPr>
        </p:nvSpPr>
        <p:spPr>
          <a:xfrm>
            <a:off x="2123728" y="1268760"/>
            <a:ext cx="6563072" cy="460648"/>
          </a:xfrm>
          <a:prstGeom prst="rect">
            <a:avLst/>
          </a:prstGeom>
        </p:spPr>
        <p:txBody>
          <a:bodyPr anchor="ctr"/>
          <a:lstStyle>
            <a:lvl1pPr marL="0" indent="0">
              <a:buNone/>
              <a:defRPr sz="200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ltLang="ko-KR" dirty="0" smtClean="0"/>
              <a:t>Click to edit Master text styles</a:t>
            </a:r>
            <a:endParaRPr lang="en-US" altLang="ko-KR" dirty="0" smtClean="0"/>
          </a:p>
        </p:txBody>
      </p:sp>
      <p:sp>
        <p:nvSpPr>
          <p:cNvPr id="5" name="Content Placeholder 2"/>
          <p:cNvSpPr>
            <a:spLocks noGrp="1"/>
          </p:cNvSpPr>
          <p:nvPr>
            <p:ph idx="10"/>
          </p:nvPr>
        </p:nvSpPr>
        <p:spPr>
          <a:xfrm>
            <a:off x="2134072" y="1844824"/>
            <a:ext cx="6563072" cy="4147865"/>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smtClean="0"/>
              <a:t>Click to edit Master text styles</a:t>
            </a:r>
            <a:endParaRPr lang="en-US" altLang="ko-KR" dirty="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8DCCD61-643D-44A5-A450-3A42A50CBC1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8DCCD61-643D-44A5-A450-3A42A50CBC1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8DCCD61-643D-44A5-A450-3A42A50CBC1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8DCCD61-643D-44A5-A450-3A42A50CBC1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8DCCD61-643D-44A5-A450-3A42A50CBC1E}"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8DCCD61-643D-44A5-A450-3A42A50CBC1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8DCCD61-643D-44A5-A450-3A42A50CBC1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8DCCD61-643D-44A5-A450-3A42A50CBC1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8DCCD61-643D-44A5-A450-3A42A50CBC1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8DCCD61-643D-44A5-A450-3A42A50CBC1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2" Type="http://schemas.openxmlformats.org/officeDocument/2006/relationships/theme" Target="../theme/theme2.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1" hangingPunct="1">
        <a:spcBef>
          <a:spcPct val="0"/>
        </a:spcBef>
        <a:buNone/>
        <a:defRPr sz="4000" b="1"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1"/>
          <p:cNvSpPr txBox="1">
            <a:spLocks noChangeArrowheads="1"/>
          </p:cNvSpPr>
          <p:nvPr/>
        </p:nvSpPr>
        <p:spPr bwMode="auto">
          <a:xfrm>
            <a:off x="0" y="4701147"/>
            <a:ext cx="9144000" cy="640080"/>
          </a:xfrm>
          <a:prstGeom prst="rect">
            <a:avLst/>
          </a:prstGeom>
          <a:noFill/>
          <a:ln w="9525">
            <a:noFill/>
            <a:miter lim="800000"/>
          </a:ln>
        </p:spPr>
        <p:txBody>
          <a:bodyPr wrap="square">
            <a:spAutoFit/>
          </a:bodyPr>
          <a:lstStyle/>
          <a:p>
            <a:pPr algn="ctr"/>
            <a:r>
              <a:rPr lang="zh-CN" altLang="en-US" sz="3600" b="1" dirty="0" smtClean="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设计模式入门</a:t>
            </a:r>
            <a:endParaRPr lang="zh-CN" altLang="en-US" sz="3600" b="1" dirty="0" smtClean="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952625" y="1443355"/>
            <a:ext cx="5238115" cy="3971290"/>
          </a:xfrm>
          <a:prstGeom prst="rect">
            <a:avLst/>
          </a:prstGeom>
        </p:spPr>
      </p:pic>
      <p:sp>
        <p:nvSpPr>
          <p:cNvPr id="3" name="文本框 2"/>
          <p:cNvSpPr txBox="1"/>
          <p:nvPr/>
        </p:nvSpPr>
        <p:spPr>
          <a:xfrm>
            <a:off x="3585845" y="527050"/>
            <a:ext cx="1760220" cy="365760"/>
          </a:xfrm>
          <a:prstGeom prst="rect">
            <a:avLst/>
          </a:prstGeom>
          <a:noFill/>
        </p:spPr>
        <p:txBody>
          <a:bodyPr wrap="square" rtlCol="0">
            <a:spAutoFit/>
          </a:bodyPr>
          <a:p>
            <a:pPr algn="ctr"/>
            <a:r>
              <a:rPr lang="zh-CN" altLang="en-US"/>
              <a:t>机器语言编程</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1800" b="0">
                <a:solidFill>
                  <a:schemeClr val="tx1"/>
                </a:solidFill>
                <a:latin typeface="+mn-lt"/>
                <a:ea typeface="+mn-ea"/>
                <a:cs typeface="+mn-cs"/>
              </a:rPr>
              <a:t>面条式代码</a:t>
            </a:r>
            <a:endParaRPr lang="zh-CN" altLang="en-US" sz="1800" b="0">
              <a:solidFill>
                <a:schemeClr val="tx1"/>
              </a:solidFill>
              <a:latin typeface="+mn-lt"/>
              <a:ea typeface="+mn-ea"/>
              <a:cs typeface="+mn-cs"/>
            </a:endParaRPr>
          </a:p>
        </p:txBody>
      </p:sp>
      <p:sp>
        <p:nvSpPr>
          <p:cNvPr id="4" name="内容占位符 3"/>
          <p:cNvSpPr>
            <a:spLocks noGrp="1"/>
          </p:cNvSpPr>
          <p:nvPr>
            <p:ph idx="10"/>
          </p:nvPr>
        </p:nvSpPr>
        <p:spPr>
          <a:xfrm>
            <a:off x="2134235" y="1424940"/>
            <a:ext cx="6563360" cy="4567555"/>
          </a:xfrm>
        </p:spPr>
        <p:txBody>
          <a:bodyPr/>
          <a:p>
            <a:r>
              <a:rPr lang="zh-CN" altLang="en-US"/>
              <a:t>面条式代码（Spaghetti code）是软件工程中反面模式的一种，是指一个代码的控制结构复杂、混乱而难以理解，尤其是用了很多GOTO、例外、线程、或其他无组织的分歧架构。其命名的原因是因为程序的流向就像一盘面一样的扭曲纠结。</a:t>
            </a:r>
            <a:endParaRPr lang="zh-CN" altLang="en-US"/>
          </a:p>
        </p:txBody>
      </p:sp>
      <p:pic>
        <p:nvPicPr>
          <p:cNvPr id="5" name="图片 4"/>
          <p:cNvPicPr>
            <a:picLocks noChangeAspect="1"/>
          </p:cNvPicPr>
          <p:nvPr/>
        </p:nvPicPr>
        <p:blipFill>
          <a:blip r:embed="rId1"/>
          <a:stretch>
            <a:fillRect/>
          </a:stretch>
        </p:blipFill>
        <p:spPr>
          <a:xfrm>
            <a:off x="3121025" y="2936240"/>
            <a:ext cx="4285615" cy="26663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585845" y="527050"/>
            <a:ext cx="1760220" cy="365760"/>
          </a:xfrm>
          <a:prstGeom prst="rect">
            <a:avLst/>
          </a:prstGeom>
          <a:noFill/>
        </p:spPr>
        <p:txBody>
          <a:bodyPr wrap="square" rtlCol="0">
            <a:spAutoFit/>
          </a:bodyPr>
          <a:p>
            <a:pPr algn="ctr"/>
            <a:r>
              <a:rPr lang="zh-CN" altLang="en-US"/>
              <a:t>结构化编程</a:t>
            </a:r>
            <a:endParaRPr lang="zh-CN" altLang="en-US"/>
          </a:p>
        </p:txBody>
      </p:sp>
      <p:pic>
        <p:nvPicPr>
          <p:cNvPr id="4" name="图片 3"/>
          <p:cNvPicPr>
            <a:picLocks noChangeAspect="1"/>
          </p:cNvPicPr>
          <p:nvPr/>
        </p:nvPicPr>
        <p:blipFill>
          <a:blip r:embed="rId1"/>
          <a:stretch>
            <a:fillRect/>
          </a:stretch>
        </p:blipFill>
        <p:spPr>
          <a:xfrm>
            <a:off x="878205" y="1169670"/>
            <a:ext cx="4123690" cy="4418965"/>
          </a:xfrm>
          <a:prstGeom prst="rect">
            <a:avLst/>
          </a:prstGeom>
        </p:spPr>
      </p:pic>
      <p:sp>
        <p:nvSpPr>
          <p:cNvPr id="5" name="文本框 4"/>
          <p:cNvSpPr txBox="1"/>
          <p:nvPr/>
        </p:nvSpPr>
        <p:spPr>
          <a:xfrm>
            <a:off x="5473700" y="897890"/>
            <a:ext cx="2987040" cy="5212080"/>
          </a:xfrm>
          <a:prstGeom prst="rect">
            <a:avLst/>
          </a:prstGeom>
          <a:noFill/>
        </p:spPr>
        <p:txBody>
          <a:bodyPr wrap="square" rtlCol="0">
            <a:spAutoFit/>
          </a:bodyPr>
          <a:p>
            <a:pPr fontAlgn="auto">
              <a:lnSpc>
                <a:spcPct val="150000"/>
              </a:lnSpc>
            </a:pPr>
            <a:r>
              <a:rPr lang="en-US" altLang="zh-CN" sz="1600"/>
              <a:t>    </a:t>
            </a:r>
            <a:r>
              <a:rPr lang="zh-CN" altLang="en-US" sz="1600"/>
              <a:t>结构化程式设计在1960年代开始发展，科拉多·伯姆（Corrado B&amp;ouml;hm）及朱塞佩·贾可皮尼（Giuseppe Jacopini）伯姆于1966年5月在《Communications of the ACM》期刊发表论文，说明任何一个有goto指令的程式，可以改为完全不使用goto指令的程式，后来艾兹赫尔·戴克斯特拉在1968年也提出著名的论文《GOTO陈述有害论》（Go To Statement Considered Harmful），因此结构化程式设计开始盛行</a:t>
            </a:r>
            <a:endParaRPr lang="zh-CN" alt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1800" b="0">
                <a:solidFill>
                  <a:schemeClr val="tx1"/>
                </a:solidFill>
                <a:latin typeface="+mn-lt"/>
                <a:ea typeface="+mn-ea"/>
                <a:cs typeface="+mn-cs"/>
              </a:rPr>
              <a:t>结构化编程设计方法</a:t>
            </a:r>
            <a:endParaRPr lang="zh-CN" altLang="en-US" sz="1800" b="0">
              <a:solidFill>
                <a:schemeClr val="tx1"/>
              </a:solidFill>
              <a:latin typeface="+mn-lt"/>
              <a:ea typeface="+mn-ea"/>
              <a:cs typeface="+mn-cs"/>
            </a:endParaRPr>
          </a:p>
        </p:txBody>
      </p:sp>
      <p:sp>
        <p:nvSpPr>
          <p:cNvPr id="4" name="内容占位符 3"/>
          <p:cNvSpPr>
            <a:spLocks noGrp="1"/>
          </p:cNvSpPr>
          <p:nvPr>
            <p:ph idx="10"/>
          </p:nvPr>
        </p:nvSpPr>
        <p:spPr>
          <a:xfrm>
            <a:off x="2100580" y="1250950"/>
            <a:ext cx="6563360" cy="4888865"/>
          </a:xfrm>
        </p:spPr>
        <p:txBody>
          <a:bodyPr/>
          <a:p>
            <a:pPr fontAlgn="auto">
              <a:lnSpc>
                <a:spcPct val="150000"/>
              </a:lnSpc>
              <a:spcBef>
                <a:spcPts val="0"/>
              </a:spcBef>
            </a:pPr>
            <a:r>
              <a:rPr lang="zh-CN" altLang="en-US"/>
              <a:t>自顶向下</a:t>
            </a:r>
            <a:endParaRPr lang="zh-CN" altLang="en-US"/>
          </a:p>
          <a:p>
            <a:pPr fontAlgn="auto">
              <a:lnSpc>
                <a:spcPct val="150000"/>
              </a:lnSpc>
              <a:spcBef>
                <a:spcPts val="0"/>
              </a:spcBef>
            </a:pPr>
            <a:r>
              <a:rPr lang="zh-CN" altLang="en-US"/>
              <a:t>程序设计时，应先考虑总体，后考虑细节；先考虑全局目标，后考虑局部目标。不要一开始就过多追求众多的细节，先从最上层总目标开始设计，逐步使问题具体化。</a:t>
            </a:r>
            <a:endParaRPr lang="zh-CN" altLang="en-US"/>
          </a:p>
          <a:p>
            <a:pPr fontAlgn="auto">
              <a:lnSpc>
                <a:spcPct val="150000"/>
              </a:lnSpc>
              <a:spcBef>
                <a:spcPts val="0"/>
              </a:spcBef>
            </a:pPr>
            <a:endParaRPr lang="zh-CN" altLang="en-US"/>
          </a:p>
          <a:p>
            <a:pPr fontAlgn="auto">
              <a:lnSpc>
                <a:spcPct val="150000"/>
              </a:lnSpc>
              <a:spcBef>
                <a:spcPts val="0"/>
              </a:spcBef>
            </a:pPr>
            <a:r>
              <a:rPr lang="zh-CN" altLang="en-US"/>
              <a:t>逐步细化</a:t>
            </a:r>
            <a:endParaRPr lang="zh-CN" altLang="en-US"/>
          </a:p>
          <a:p>
            <a:pPr fontAlgn="auto">
              <a:lnSpc>
                <a:spcPct val="150000"/>
              </a:lnSpc>
              <a:spcBef>
                <a:spcPts val="0"/>
              </a:spcBef>
            </a:pPr>
            <a:r>
              <a:rPr lang="zh-CN" altLang="en-US"/>
              <a:t>对复杂问题，应设计一些子目标作为过渡，逐步细化。</a:t>
            </a:r>
            <a:endParaRPr lang="zh-CN" altLang="en-US"/>
          </a:p>
          <a:p>
            <a:pPr fontAlgn="auto">
              <a:lnSpc>
                <a:spcPct val="150000"/>
              </a:lnSpc>
              <a:spcBef>
                <a:spcPts val="0"/>
              </a:spcBef>
            </a:pPr>
            <a:endParaRPr lang="zh-CN" altLang="en-US"/>
          </a:p>
          <a:p>
            <a:pPr fontAlgn="auto">
              <a:lnSpc>
                <a:spcPct val="150000"/>
              </a:lnSpc>
              <a:spcBef>
                <a:spcPts val="0"/>
              </a:spcBef>
            </a:pPr>
            <a:r>
              <a:rPr lang="zh-CN" altLang="en-US"/>
              <a:t>模块化</a:t>
            </a:r>
            <a:endParaRPr lang="zh-CN" altLang="en-US"/>
          </a:p>
          <a:p>
            <a:pPr fontAlgn="auto">
              <a:lnSpc>
                <a:spcPct val="150000"/>
              </a:lnSpc>
              <a:spcBef>
                <a:spcPts val="0"/>
              </a:spcBef>
            </a:pPr>
            <a:r>
              <a:rPr lang="zh-CN" altLang="en-US"/>
              <a:t>一个复杂问题，肯定是由若干稍简单的问题构成。模块化是把程序要解决的总目标分解为子目标，再进一步分解为具体的小目标，把每一个小目标称为一个模块。</a:t>
            </a:r>
            <a:endParaRPr lang="zh-CN" altLang="en-US"/>
          </a:p>
          <a:p>
            <a:pPr fontAlgn="auto">
              <a:lnSpc>
                <a:spcPct val="150000"/>
              </a:lnSpc>
              <a:spcBef>
                <a:spcPts val="0"/>
              </a:spcBef>
            </a:pPr>
            <a:endParaRPr lang="zh-CN" altLang="en-US"/>
          </a:p>
          <a:p>
            <a:pPr fontAlgn="auto">
              <a:lnSpc>
                <a:spcPct val="150000"/>
              </a:lnSpc>
              <a:spcBef>
                <a:spcPts val="0"/>
              </a:spcBef>
            </a:pPr>
            <a:r>
              <a:rPr lang="zh-CN" altLang="en-US"/>
              <a:t>主要关注过程，也就是数据处理的业务过程，然而业务流程经常是最可能变化的地方</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585845" y="527050"/>
            <a:ext cx="1760220" cy="365760"/>
          </a:xfrm>
          <a:prstGeom prst="rect">
            <a:avLst/>
          </a:prstGeom>
          <a:noFill/>
        </p:spPr>
        <p:txBody>
          <a:bodyPr wrap="square" rtlCol="0">
            <a:spAutoFit/>
          </a:bodyPr>
          <a:p>
            <a:pPr algn="ctr"/>
            <a:r>
              <a:rPr lang="zh-CN" altLang="en-US"/>
              <a:t>面向对象编程</a:t>
            </a:r>
            <a:endParaRPr lang="zh-CN" altLang="en-US"/>
          </a:p>
        </p:txBody>
      </p:sp>
      <p:sp>
        <p:nvSpPr>
          <p:cNvPr id="5" name="文本框 4"/>
          <p:cNvSpPr txBox="1"/>
          <p:nvPr/>
        </p:nvSpPr>
        <p:spPr>
          <a:xfrm>
            <a:off x="4570730" y="1145540"/>
            <a:ext cx="3890010" cy="4846320"/>
          </a:xfrm>
          <a:prstGeom prst="rect">
            <a:avLst/>
          </a:prstGeom>
          <a:noFill/>
        </p:spPr>
        <p:txBody>
          <a:bodyPr wrap="square" rtlCol="0">
            <a:spAutoFit/>
          </a:bodyPr>
          <a:p>
            <a:pPr fontAlgn="auto">
              <a:lnSpc>
                <a:spcPct val="150000"/>
              </a:lnSpc>
            </a:pPr>
            <a:r>
              <a:rPr lang="en-US" altLang="zh-CN" sz="1600"/>
              <a:t>1.</a:t>
            </a:r>
            <a:r>
              <a:rPr lang="zh-CN" altLang="en-US" sz="1600"/>
              <a:t>面向对象关注的是对象，对象的优点在于，可以定义自己负责的事物，对象应该自己负责自己，而且应该清楚的定义责任</a:t>
            </a:r>
            <a:endParaRPr lang="zh-CN" altLang="en-US" sz="1600"/>
          </a:p>
          <a:p>
            <a:pPr fontAlgn="auto">
              <a:lnSpc>
                <a:spcPct val="150000"/>
              </a:lnSpc>
            </a:pPr>
            <a:endParaRPr lang="zh-CN" altLang="en-US" sz="1600"/>
          </a:p>
          <a:p>
            <a:pPr fontAlgn="auto">
              <a:lnSpc>
                <a:spcPct val="150000"/>
              </a:lnSpc>
            </a:pPr>
            <a:r>
              <a:rPr lang="en-US" altLang="zh-CN" sz="1600"/>
              <a:t>2.</a:t>
            </a:r>
            <a:r>
              <a:rPr lang="zh-CN" altLang="en-US" sz="1600"/>
              <a:t>面向对象的开发者，把需求理解成一个一个的对象，了解</a:t>
            </a:r>
            <a:r>
              <a:rPr lang="en-US" altLang="zh-CN" sz="1600"/>
              <a:t>“</a:t>
            </a:r>
            <a:r>
              <a:rPr lang="zh-CN" altLang="en-US" sz="1600"/>
              <a:t>这个东西叫什么，他从哪里来，他能做什么</a:t>
            </a:r>
            <a:r>
              <a:rPr lang="en-US" altLang="zh-CN" sz="1600"/>
              <a:t>”</a:t>
            </a:r>
            <a:r>
              <a:rPr lang="zh-CN" altLang="en-US" sz="1600"/>
              <a:t>，然后制造这些对象，让这些对象相互调用，复合业务需求</a:t>
            </a:r>
            <a:endParaRPr lang="zh-CN" altLang="en-US" sz="1600"/>
          </a:p>
          <a:p>
            <a:pPr fontAlgn="auto">
              <a:lnSpc>
                <a:spcPct val="150000"/>
              </a:lnSpc>
            </a:pPr>
            <a:endParaRPr lang="zh-CN" altLang="en-US" sz="1600"/>
          </a:p>
          <a:p>
            <a:pPr fontAlgn="auto">
              <a:lnSpc>
                <a:spcPct val="150000"/>
              </a:lnSpc>
            </a:pPr>
            <a:r>
              <a:rPr lang="en-US" altLang="zh-CN" sz="1600"/>
              <a:t>3.</a:t>
            </a:r>
            <a:r>
              <a:rPr lang="zh-CN" altLang="en-US" sz="1600"/>
              <a:t>对象比流程更加稳定，更加封闭。对象通过接口和外界联系，内部的事情和外部无关</a:t>
            </a:r>
            <a:endParaRPr lang="zh-CN" altLang="en-US" sz="1600"/>
          </a:p>
        </p:txBody>
      </p:sp>
      <p:pic>
        <p:nvPicPr>
          <p:cNvPr id="2" name="图片 1"/>
          <p:cNvPicPr>
            <a:picLocks noChangeAspect="1"/>
          </p:cNvPicPr>
          <p:nvPr/>
        </p:nvPicPr>
        <p:blipFill>
          <a:blip r:embed="rId1"/>
          <a:stretch>
            <a:fillRect/>
          </a:stretch>
        </p:blipFill>
        <p:spPr>
          <a:xfrm>
            <a:off x="703580" y="2004695"/>
            <a:ext cx="3723640" cy="2171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zh-CN" altLang="en-US" sz="2800" dirty="0"/>
              <a:t>为什么要有模式？</a:t>
            </a:r>
            <a:endParaRPr lang="zh-CN" altLang="en-US" sz="2800" dirty="0"/>
          </a:p>
        </p:txBody>
      </p:sp>
      <p:sp>
        <p:nvSpPr>
          <p:cNvPr id="7" name="Content Placeholder 6"/>
          <p:cNvSpPr>
            <a:spLocks noGrp="1"/>
          </p:cNvSpPr>
          <p:nvPr>
            <p:ph idx="10"/>
          </p:nvPr>
        </p:nvSpPr>
        <p:spPr>
          <a:xfrm>
            <a:off x="467360" y="1478280"/>
            <a:ext cx="8229600" cy="4399280"/>
          </a:xfrm>
        </p:spPr>
        <p:txBody>
          <a:bodyPr/>
          <a:lstStyle/>
          <a:p>
            <a:pPr>
              <a:buFont typeface="Wingdings" panose="05000000000000000000" pitchFamily="2" charset="2"/>
            </a:pPr>
            <a:endParaRPr lang="en-US" altLang="ko-KR" dirty="0">
              <a:latin typeface="Arial" panose="020B0604020202020204" pitchFamily="34" charset="0"/>
              <a:cs typeface="Arial" panose="020B0604020202020204" pitchFamily="34" charset="0"/>
            </a:endParaRPr>
          </a:p>
          <a:p>
            <a:r>
              <a:rPr lang="zh-CN" altLang="en-US" dirty="0">
                <a:latin typeface="Arial" panose="020B0604020202020204" pitchFamily="34" charset="0"/>
                <a:cs typeface="Arial" panose="020B0604020202020204" pitchFamily="34" charset="0"/>
              </a:rPr>
              <a:t>已经解决过了一个问题但是不能确切知道是在什么地方或怎么解决的？如果你能记起以前的细节和怎么解决它的，你就可以复用以前的经验而不是重新发现它</a:t>
            </a:r>
            <a:r>
              <a:rPr lang="en-US" altLang="zh-CN" dirty="0">
                <a:latin typeface="Arial" panose="020B0604020202020204" pitchFamily="34" charset="0"/>
                <a:cs typeface="Arial" panose="020B0604020202020204" pitchFamily="34" charset="0"/>
              </a:rPr>
              <a:t>[GoF]</a:t>
            </a:r>
            <a:r>
              <a:rPr lang="zh-CN" altLang="en-US" dirty="0">
                <a:latin typeface="Arial" panose="020B0604020202020204" pitchFamily="34" charset="0"/>
                <a:cs typeface="Arial" panose="020B0604020202020204" pitchFamily="34" charset="0"/>
              </a:rPr>
              <a:t>，</a:t>
            </a:r>
            <a:r>
              <a:rPr lang="zh-CN" altLang="en-US" dirty="0" smtClean="0">
                <a:sym typeface="+mn-ea"/>
              </a:rPr>
              <a:t>通过模式记录下面向对象软件的设计经验</a:t>
            </a:r>
            <a:endParaRPr lang="zh-CN" altLang="en-US" dirty="0">
              <a:latin typeface="Arial" panose="020B0604020202020204" pitchFamily="34" charset="0"/>
              <a:cs typeface="Arial" panose="020B0604020202020204" pitchFamily="34" charset="0"/>
            </a:endParaRPr>
          </a:p>
          <a:p>
            <a:endParaRPr lang="zh-CN" altLang="en-US" dirty="0" smtClean="0">
              <a:latin typeface="Arial" panose="020B0604020202020204" pitchFamily="34" charset="0"/>
              <a:cs typeface="Arial" panose="020B0604020202020204" pitchFamily="34" charset="0"/>
            </a:endParaRPr>
          </a:p>
          <a:p>
            <a:r>
              <a:rPr lang="zh-CN" altLang="en-US" dirty="0">
                <a:cs typeface="Arial" panose="020B0604020202020204" pitchFamily="34" charset="0"/>
              </a:rPr>
              <a:t>开发中的交流和协作都需要共同的词汇基础和对问题的共识。设计模式在项目的分析和设计阶段提供了共同的基准点。</a:t>
            </a:r>
            <a:endParaRPr lang="zh-CN" altLang="en-US" dirty="0">
              <a:cs typeface="Arial" panose="020B0604020202020204" pitchFamily="34" charset="0"/>
            </a:endParaRPr>
          </a:p>
          <a:p>
            <a:endParaRPr lang="zh-CN" altLang="en-US" dirty="0">
              <a:cs typeface="Arial" panose="020B0604020202020204" pitchFamily="34" charset="0"/>
            </a:endParaRPr>
          </a:p>
          <a:p>
            <a:r>
              <a:rPr lang="zh-CN" altLang="en-US" dirty="0">
                <a:cs typeface="Arial" panose="020B0604020202020204" pitchFamily="34" charset="0"/>
              </a:rPr>
              <a:t>模式还为我们提供了观察问题、设计过程和面向对象的更高层次的视角，这将使我们从“过早处理细节”的桎梏中解放出来。</a:t>
            </a:r>
            <a:endParaRPr lang="zh-CN" altLang="en-US" dirty="0">
              <a:cs typeface="Arial" panose="020B0604020202020204" pitchFamily="34" charset="0"/>
            </a:endParaRPr>
          </a:p>
          <a:p>
            <a:endParaRPr lang="zh-CN" altLang="en-US" dirty="0">
              <a:cs typeface="Arial" panose="020B0604020202020204" pitchFamily="34" charset="0"/>
            </a:endParaRPr>
          </a:p>
          <a:p>
            <a:r>
              <a:rPr lang="zh-CN" altLang="en-US" dirty="0">
                <a:cs typeface="Arial" panose="020B0604020202020204" pitchFamily="34" charset="0"/>
              </a:rPr>
              <a:t>大多数设计模式还能使软件更容易修改和维护。其原因在于，它们都是久经考验的解决方案。所以，它们的结构都是经过长期发展形成的，比新构思的解决方案更善于应对变化。而且，这些模式所用代码往往更易于理解</a:t>
            </a:r>
            <a:endParaRPr lang="zh-CN" altLang="en-US" dirty="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 </a:t>
            </a:r>
            <a:r>
              <a:rPr lang="zh-CN" altLang="en-US" sz="2800"/>
              <a:t>1. 泛化（Generalization）</a:t>
            </a:r>
            <a:endParaRPr lang="zh-CN" altLang="en-US" sz="2800"/>
          </a:p>
        </p:txBody>
      </p:sp>
      <p:sp>
        <p:nvSpPr>
          <p:cNvPr id="4" name="内容占位符 3"/>
          <p:cNvSpPr>
            <a:spLocks noGrp="1"/>
          </p:cNvSpPr>
          <p:nvPr>
            <p:ph idx="10"/>
          </p:nvPr>
        </p:nvSpPr>
        <p:spPr/>
        <p:txBody>
          <a:bodyPr/>
          <a:p>
            <a:r>
              <a:rPr lang="zh-CN" altLang="en-US"/>
              <a:t>【泛化关系】：是一种继承关系，表示一般与特殊的关系，它指定了子类如何特化父类的所有特征和行为。例如：老虎是动物的一种，即有老虎的特性也有动物的共性。</a:t>
            </a:r>
            <a:endParaRPr lang="zh-CN" altLang="en-US"/>
          </a:p>
          <a:p>
            <a:endParaRPr lang="zh-CN" altLang="en-US"/>
          </a:p>
          <a:p>
            <a:r>
              <a:rPr lang="zh-CN" altLang="en-US"/>
              <a:t>【箭头指向】：带三角箭头的实线，箭头指向父类</a:t>
            </a:r>
            <a:endParaRPr lang="zh-CN" altLang="en-US"/>
          </a:p>
        </p:txBody>
      </p:sp>
      <p:pic>
        <p:nvPicPr>
          <p:cNvPr id="5" name="图片 4"/>
          <p:cNvPicPr>
            <a:picLocks noChangeAspect="1"/>
          </p:cNvPicPr>
          <p:nvPr/>
        </p:nvPicPr>
        <p:blipFill>
          <a:blip r:embed="rId1"/>
          <a:stretch>
            <a:fillRect/>
          </a:stretch>
        </p:blipFill>
        <p:spPr>
          <a:xfrm>
            <a:off x="3956050" y="3198495"/>
            <a:ext cx="1924050" cy="29997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  </a:t>
            </a:r>
            <a:r>
              <a:rPr lang="zh-CN" altLang="en-US" sz="2800"/>
              <a:t>2. 实现（Realization）</a:t>
            </a:r>
            <a:endParaRPr lang="zh-CN" altLang="en-US" sz="2800"/>
          </a:p>
        </p:txBody>
      </p:sp>
      <p:sp>
        <p:nvSpPr>
          <p:cNvPr id="4" name="内容占位符 3"/>
          <p:cNvSpPr>
            <a:spLocks noGrp="1"/>
          </p:cNvSpPr>
          <p:nvPr>
            <p:ph idx="10"/>
          </p:nvPr>
        </p:nvSpPr>
        <p:spPr/>
        <p:txBody>
          <a:bodyPr/>
          <a:p>
            <a:r>
              <a:rPr lang="zh-CN" altLang="en-US"/>
              <a:t>【实现关系】：是一种类与接口的关系，表示类是接口所有特征和行为的实现.</a:t>
            </a:r>
            <a:endParaRPr lang="zh-CN" altLang="en-US"/>
          </a:p>
          <a:p>
            <a:endParaRPr lang="zh-CN" altLang="en-US"/>
          </a:p>
          <a:p>
            <a:r>
              <a:rPr lang="zh-CN" altLang="en-US"/>
              <a:t>【箭头指向】：带三角箭头的虚线，箭头指向接口</a:t>
            </a:r>
            <a:endParaRPr lang="zh-CN" altLang="en-US"/>
          </a:p>
        </p:txBody>
      </p:sp>
      <p:pic>
        <p:nvPicPr>
          <p:cNvPr id="3" name="图片 2"/>
          <p:cNvPicPr>
            <a:picLocks noChangeAspect="1"/>
          </p:cNvPicPr>
          <p:nvPr/>
        </p:nvPicPr>
        <p:blipFill>
          <a:blip r:embed="rId1"/>
          <a:stretch>
            <a:fillRect/>
          </a:stretch>
        </p:blipFill>
        <p:spPr>
          <a:xfrm>
            <a:off x="4152900" y="2966720"/>
            <a:ext cx="1943100" cy="27044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653327" y="-8255"/>
            <a:ext cx="7524328" cy="1069514"/>
          </a:xfrm>
        </p:spPr>
        <p:txBody>
          <a:bodyPr/>
          <a:p>
            <a:r>
              <a:rPr lang="zh-CN" altLang="en-US" sz="2800"/>
              <a:t>3. 关联（Association)</a:t>
            </a:r>
            <a:endParaRPr lang="zh-CN" altLang="en-US" sz="2800"/>
          </a:p>
        </p:txBody>
      </p:sp>
      <p:sp>
        <p:nvSpPr>
          <p:cNvPr id="4" name="内容占位符 3"/>
          <p:cNvSpPr>
            <a:spLocks noGrp="1"/>
          </p:cNvSpPr>
          <p:nvPr>
            <p:ph idx="10"/>
          </p:nvPr>
        </p:nvSpPr>
        <p:spPr>
          <a:xfrm>
            <a:off x="2134235" y="1522095"/>
            <a:ext cx="6563360" cy="4470400"/>
          </a:xfrm>
        </p:spPr>
        <p:txBody>
          <a:bodyPr/>
          <a:p>
            <a:pPr fontAlgn="auto">
              <a:lnSpc>
                <a:spcPct val="150000"/>
              </a:lnSpc>
              <a:spcBef>
                <a:spcPts val="0"/>
              </a:spcBef>
            </a:pPr>
            <a:r>
              <a:rPr lang="zh-CN" altLang="en-US"/>
              <a:t>【关联关系】：是一种拥有的关系，它使一个类知道另一个类的属性和方法；如：老师与学生，丈夫与妻子关联可以是双向的，也可以是单向的。双向的关联可以有两个箭头或者没有箭头，单向的关联有一个箭头。</a:t>
            </a:r>
            <a:endParaRPr lang="zh-CN" altLang="en-US"/>
          </a:p>
          <a:p>
            <a:pPr fontAlgn="auto">
              <a:lnSpc>
                <a:spcPct val="150000"/>
              </a:lnSpc>
              <a:spcBef>
                <a:spcPts val="0"/>
              </a:spcBef>
            </a:pPr>
            <a:r>
              <a:rPr lang="zh-CN" altLang="en-US"/>
              <a:t>【代码体现】：成员变量</a:t>
            </a:r>
            <a:endParaRPr lang="zh-CN" altLang="en-US"/>
          </a:p>
          <a:p>
            <a:pPr fontAlgn="auto">
              <a:lnSpc>
                <a:spcPct val="150000"/>
              </a:lnSpc>
              <a:spcBef>
                <a:spcPts val="0"/>
              </a:spcBef>
            </a:pPr>
            <a:r>
              <a:rPr lang="zh-CN" altLang="en-US"/>
              <a:t>【箭头及指向】：带普通箭头的实心线，指向被拥有者</a:t>
            </a:r>
            <a:endParaRPr lang="zh-CN" altLang="en-US"/>
          </a:p>
        </p:txBody>
      </p:sp>
      <p:pic>
        <p:nvPicPr>
          <p:cNvPr id="5" name="图片 4"/>
          <p:cNvPicPr>
            <a:picLocks noChangeAspect="1"/>
          </p:cNvPicPr>
          <p:nvPr/>
        </p:nvPicPr>
        <p:blipFill>
          <a:blip r:embed="rId1"/>
          <a:stretch>
            <a:fillRect/>
          </a:stretch>
        </p:blipFill>
        <p:spPr>
          <a:xfrm>
            <a:off x="2759075" y="3693160"/>
            <a:ext cx="5314315" cy="1514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t>4. 聚合（Aggregation）</a:t>
            </a:r>
            <a:endParaRPr lang="zh-CN" altLang="en-US" sz="2800"/>
          </a:p>
        </p:txBody>
      </p:sp>
      <p:sp>
        <p:nvSpPr>
          <p:cNvPr id="4" name="内容占位符 3"/>
          <p:cNvSpPr>
            <a:spLocks noGrp="1"/>
          </p:cNvSpPr>
          <p:nvPr>
            <p:ph idx="10"/>
          </p:nvPr>
        </p:nvSpPr>
        <p:spPr>
          <a:xfrm>
            <a:off x="2134235" y="1069975"/>
            <a:ext cx="6563360" cy="4922520"/>
          </a:xfrm>
        </p:spPr>
        <p:txBody>
          <a:bodyPr/>
          <a:p>
            <a:pPr fontAlgn="auto">
              <a:lnSpc>
                <a:spcPct val="150000"/>
              </a:lnSpc>
              <a:spcBef>
                <a:spcPts val="0"/>
              </a:spcBef>
            </a:pPr>
            <a:r>
              <a:rPr lang="zh-CN" altLang="en-US"/>
              <a:t>【聚合关系】：是整体与部分的关系，且部分可以离开整体而单独存在。如车和轮胎是整体和部分的关系，轮胎离开车仍然可以存在。</a:t>
            </a:r>
            <a:endParaRPr lang="zh-CN" altLang="en-US"/>
          </a:p>
          <a:p>
            <a:pPr fontAlgn="auto">
              <a:lnSpc>
                <a:spcPct val="150000"/>
              </a:lnSpc>
              <a:spcBef>
                <a:spcPts val="0"/>
              </a:spcBef>
            </a:pPr>
            <a:r>
              <a:rPr lang="zh-CN" altLang="en-US"/>
              <a:t>聚合关系是关联关系的一种，是强的关联关系；关联和聚合在语法上无法区分，必须考察具体的逻辑关系。</a:t>
            </a:r>
            <a:endParaRPr lang="zh-CN" altLang="en-US"/>
          </a:p>
          <a:p>
            <a:pPr fontAlgn="auto">
              <a:lnSpc>
                <a:spcPct val="150000"/>
              </a:lnSpc>
              <a:spcBef>
                <a:spcPts val="0"/>
              </a:spcBef>
            </a:pPr>
            <a:r>
              <a:rPr lang="zh-CN" altLang="en-US"/>
              <a:t>【代码体现】：成员变量</a:t>
            </a:r>
            <a:endParaRPr lang="zh-CN" altLang="en-US"/>
          </a:p>
          <a:p>
            <a:pPr fontAlgn="auto">
              <a:lnSpc>
                <a:spcPct val="150000"/>
              </a:lnSpc>
              <a:spcBef>
                <a:spcPts val="0"/>
              </a:spcBef>
            </a:pPr>
            <a:r>
              <a:rPr lang="zh-CN" altLang="en-US"/>
              <a:t>【箭头及指向】：带空心菱形的实心线，菱形指向整体</a:t>
            </a:r>
            <a:endParaRPr lang="zh-CN" altLang="en-US"/>
          </a:p>
        </p:txBody>
      </p:sp>
      <p:pic>
        <p:nvPicPr>
          <p:cNvPr id="3" name="图片 2"/>
          <p:cNvPicPr>
            <a:picLocks noChangeAspect="1"/>
          </p:cNvPicPr>
          <p:nvPr/>
        </p:nvPicPr>
        <p:blipFill>
          <a:blip r:embed="rId1"/>
          <a:stretch>
            <a:fillRect/>
          </a:stretch>
        </p:blipFill>
        <p:spPr>
          <a:xfrm>
            <a:off x="3299460" y="3242945"/>
            <a:ext cx="3594100" cy="29476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653327" y="-8255"/>
            <a:ext cx="7524328" cy="1069514"/>
          </a:xfrm>
        </p:spPr>
        <p:txBody>
          <a:bodyPr/>
          <a:p>
            <a:r>
              <a:rPr lang="zh-CN" altLang="en-US" sz="2800"/>
              <a:t>5. 组合(Composition)</a:t>
            </a:r>
            <a:endParaRPr lang="zh-CN" altLang="en-US" sz="2800"/>
          </a:p>
        </p:txBody>
      </p:sp>
      <p:sp>
        <p:nvSpPr>
          <p:cNvPr id="4" name="内容占位符 3"/>
          <p:cNvSpPr>
            <a:spLocks noGrp="1"/>
          </p:cNvSpPr>
          <p:nvPr>
            <p:ph idx="10"/>
          </p:nvPr>
        </p:nvSpPr>
        <p:spPr>
          <a:xfrm>
            <a:off x="2134235" y="1653540"/>
            <a:ext cx="6563360" cy="4338955"/>
          </a:xfrm>
        </p:spPr>
        <p:txBody>
          <a:bodyPr/>
          <a:p>
            <a:pPr fontAlgn="auto">
              <a:lnSpc>
                <a:spcPct val="150000"/>
              </a:lnSpc>
              <a:spcBef>
                <a:spcPts val="0"/>
              </a:spcBef>
            </a:pPr>
            <a:r>
              <a:rPr lang="zh-CN" altLang="en-US"/>
              <a:t>【组合关系】：是整体与部分的关系，但部分不能离开整体而单独存在。如公司和部门是整体和部分的关系，没有公司就不存在部门。组合关系是关联关系的一种，是比聚合关系还要强的关系，它要求普通的聚合关系中代表整体的对象负责代表部分的对象的生命周期。</a:t>
            </a:r>
            <a:endParaRPr lang="zh-CN" altLang="en-US"/>
          </a:p>
          <a:p>
            <a:pPr fontAlgn="auto">
              <a:lnSpc>
                <a:spcPct val="150000"/>
              </a:lnSpc>
              <a:spcBef>
                <a:spcPts val="0"/>
              </a:spcBef>
            </a:pPr>
            <a:endParaRPr lang="zh-CN" altLang="en-US"/>
          </a:p>
          <a:p>
            <a:pPr fontAlgn="auto">
              <a:lnSpc>
                <a:spcPct val="150000"/>
              </a:lnSpc>
              <a:spcBef>
                <a:spcPts val="0"/>
              </a:spcBef>
            </a:pPr>
            <a:r>
              <a:rPr lang="zh-CN" altLang="en-US"/>
              <a:t>【代码体现】：成员变量</a:t>
            </a:r>
            <a:endParaRPr lang="zh-CN" altLang="en-US"/>
          </a:p>
          <a:p>
            <a:pPr fontAlgn="auto">
              <a:lnSpc>
                <a:spcPct val="150000"/>
              </a:lnSpc>
              <a:spcBef>
                <a:spcPts val="0"/>
              </a:spcBef>
            </a:pPr>
            <a:endParaRPr lang="zh-CN" altLang="en-US"/>
          </a:p>
          <a:p>
            <a:pPr fontAlgn="auto">
              <a:lnSpc>
                <a:spcPct val="150000"/>
              </a:lnSpc>
              <a:spcBef>
                <a:spcPts val="0"/>
              </a:spcBef>
            </a:pPr>
            <a:r>
              <a:rPr lang="zh-CN" altLang="en-US"/>
              <a:t>【箭头及指向】：带实心菱形的实线，菱形指向整体</a:t>
            </a:r>
            <a:endParaRPr lang="zh-CN" altLang="en-US"/>
          </a:p>
        </p:txBody>
      </p:sp>
      <p:pic>
        <p:nvPicPr>
          <p:cNvPr id="3" name="图片 2"/>
          <p:cNvPicPr>
            <a:picLocks noChangeAspect="1"/>
          </p:cNvPicPr>
          <p:nvPr/>
        </p:nvPicPr>
        <p:blipFill>
          <a:blip r:embed="rId1"/>
          <a:stretch>
            <a:fillRect/>
          </a:stretch>
        </p:blipFill>
        <p:spPr>
          <a:xfrm>
            <a:off x="6621145" y="2815590"/>
            <a:ext cx="2076450" cy="28473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653327" y="-8255"/>
            <a:ext cx="7524328" cy="1069514"/>
          </a:xfrm>
        </p:spPr>
        <p:txBody>
          <a:bodyPr/>
          <a:p>
            <a:r>
              <a:rPr lang="zh-CN" altLang="en-US" sz="2800"/>
              <a:t> 6. 依赖(Dependency)</a:t>
            </a:r>
            <a:endParaRPr lang="zh-CN" altLang="en-US" sz="2800"/>
          </a:p>
        </p:txBody>
      </p:sp>
      <p:sp>
        <p:nvSpPr>
          <p:cNvPr id="4" name="内容占位符 3"/>
          <p:cNvSpPr>
            <a:spLocks noGrp="1"/>
          </p:cNvSpPr>
          <p:nvPr>
            <p:ph idx="10"/>
          </p:nvPr>
        </p:nvSpPr>
        <p:spPr>
          <a:xfrm>
            <a:off x="2134235" y="1653540"/>
            <a:ext cx="6563360" cy="4338955"/>
          </a:xfrm>
        </p:spPr>
        <p:txBody>
          <a:bodyPr/>
          <a:p>
            <a:pPr fontAlgn="auto">
              <a:lnSpc>
                <a:spcPct val="150000"/>
              </a:lnSpc>
              <a:spcBef>
                <a:spcPts val="0"/>
              </a:spcBef>
            </a:pPr>
            <a:r>
              <a:rPr lang="zh-CN" altLang="en-US"/>
              <a:t>【依赖关系】：是一种使用的关系，即一个类的实现需要另一个类的协助，所以要尽量不使用双向的互相依赖.</a:t>
            </a:r>
            <a:endParaRPr lang="zh-CN" altLang="en-US"/>
          </a:p>
          <a:p>
            <a:pPr fontAlgn="auto">
              <a:lnSpc>
                <a:spcPct val="150000"/>
              </a:lnSpc>
              <a:spcBef>
                <a:spcPts val="0"/>
              </a:spcBef>
            </a:pPr>
            <a:endParaRPr lang="zh-CN" altLang="en-US"/>
          </a:p>
          <a:p>
            <a:pPr fontAlgn="auto">
              <a:lnSpc>
                <a:spcPct val="150000"/>
              </a:lnSpc>
              <a:spcBef>
                <a:spcPts val="0"/>
              </a:spcBef>
            </a:pPr>
            <a:r>
              <a:rPr lang="zh-CN" altLang="en-US"/>
              <a:t>【代码表现】：局部变量、方法的参数或者对静态方法的调用</a:t>
            </a:r>
            <a:endParaRPr lang="zh-CN" altLang="en-US"/>
          </a:p>
          <a:p>
            <a:pPr fontAlgn="auto">
              <a:lnSpc>
                <a:spcPct val="150000"/>
              </a:lnSpc>
              <a:spcBef>
                <a:spcPts val="0"/>
              </a:spcBef>
            </a:pPr>
            <a:endParaRPr lang="zh-CN" altLang="en-US"/>
          </a:p>
          <a:p>
            <a:pPr fontAlgn="auto">
              <a:lnSpc>
                <a:spcPct val="150000"/>
              </a:lnSpc>
              <a:spcBef>
                <a:spcPts val="0"/>
              </a:spcBef>
            </a:pPr>
            <a:r>
              <a:rPr lang="zh-CN" altLang="en-US"/>
              <a:t>【箭头及指向】：带箭头的虚线，指向被使用者</a:t>
            </a:r>
            <a:endParaRPr lang="zh-CN" altLang="en-US"/>
          </a:p>
        </p:txBody>
      </p:sp>
      <p:pic>
        <p:nvPicPr>
          <p:cNvPr id="5" name="图片 4"/>
          <p:cNvPicPr>
            <a:picLocks noChangeAspect="1"/>
          </p:cNvPicPr>
          <p:nvPr/>
        </p:nvPicPr>
        <p:blipFill>
          <a:blip r:embed="rId1"/>
          <a:stretch>
            <a:fillRect/>
          </a:stretch>
        </p:blipFill>
        <p:spPr>
          <a:xfrm>
            <a:off x="6622415" y="2999105"/>
            <a:ext cx="1866900" cy="2524125"/>
          </a:xfrm>
          <a:prstGeom prst="rect">
            <a:avLst/>
          </a:prstGeom>
        </p:spPr>
      </p:pic>
      <p:sp>
        <p:nvSpPr>
          <p:cNvPr id="6" name="文本框 5"/>
          <p:cNvSpPr txBox="1"/>
          <p:nvPr/>
        </p:nvSpPr>
        <p:spPr>
          <a:xfrm>
            <a:off x="2051050" y="4540885"/>
            <a:ext cx="4571365" cy="386715"/>
          </a:xfrm>
          <a:prstGeom prst="rect">
            <a:avLst/>
          </a:prstGeom>
          <a:noFill/>
        </p:spPr>
        <p:txBody>
          <a:bodyPr wrap="square" rtlCol="0" anchor="t">
            <a:spAutoFit/>
          </a:bodyPr>
          <a:p>
            <a:r>
              <a:rPr lang="zh-CN" altLang="en-US"/>
              <a:t>泛化 = 实现 &gt; 组合 &gt; 聚合 &gt; 关联 &gt; 依赖 </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98830" y="365760"/>
            <a:ext cx="7562215" cy="61429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dirty="0">
                <a:sym typeface="+mn-ea"/>
              </a:rPr>
              <a:t>单一职责原则（</a:t>
            </a:r>
            <a:r>
              <a:rPr lang="en-US" altLang="zh-CN" sz="2000" dirty="0">
                <a:sym typeface="+mn-ea"/>
              </a:rPr>
              <a:t>solid.s</a:t>
            </a:r>
            <a:r>
              <a:rPr lang="zh-CN" altLang="en-US" sz="2000" dirty="0">
                <a:sym typeface="+mn-ea"/>
              </a:rPr>
              <a:t>）</a:t>
            </a:r>
            <a:endParaRPr lang="zh-CN" altLang="en-US" sz="2000" dirty="0">
              <a:sym typeface="+mn-ea"/>
            </a:endParaRPr>
          </a:p>
        </p:txBody>
      </p:sp>
      <p:sp>
        <p:nvSpPr>
          <p:cNvPr id="4" name="内容占位符 3"/>
          <p:cNvSpPr>
            <a:spLocks noGrp="1"/>
          </p:cNvSpPr>
          <p:nvPr>
            <p:ph idx="10"/>
          </p:nvPr>
        </p:nvSpPr>
        <p:spPr>
          <a:xfrm>
            <a:off x="1619885" y="1168400"/>
            <a:ext cx="7077710" cy="4824095"/>
          </a:xfrm>
        </p:spPr>
        <p:txBody>
          <a:bodyPr/>
          <a:p>
            <a:endParaRPr lang="zh-CN" altLang="en-US" dirty="0">
              <a:latin typeface="Arial" panose="020B0604020202020204" pitchFamily="34" charset="0"/>
              <a:cs typeface="Arial" panose="020B0604020202020204" pitchFamily="34" charset="0"/>
            </a:endParaRPr>
          </a:p>
          <a:p>
            <a:endParaRPr lang="zh-CN" altLang="en-US" dirty="0">
              <a:latin typeface="Arial" panose="020B0604020202020204" pitchFamily="34" charset="0"/>
              <a:cs typeface="Arial" panose="020B0604020202020204" pitchFamily="34" charset="0"/>
            </a:endParaRPr>
          </a:p>
          <a:p>
            <a:r>
              <a:rPr lang="zh-CN" altLang="en-US" dirty="0">
                <a:latin typeface="Arial" panose="020B0604020202020204" pitchFamily="34" charset="0"/>
                <a:cs typeface="Arial" panose="020B0604020202020204" pitchFamily="34" charset="0"/>
                <a:sym typeface="+mn-ea"/>
              </a:rPr>
              <a:t>全称：“Single-Responsibility Principle”</a:t>
            </a:r>
            <a:endParaRPr lang="zh-CN" altLang="en-US" dirty="0">
              <a:latin typeface="Arial" panose="020B0604020202020204" pitchFamily="34" charset="0"/>
              <a:cs typeface="Arial" panose="020B0604020202020204" pitchFamily="34" charset="0"/>
            </a:endParaRPr>
          </a:p>
          <a:p>
            <a:endParaRPr lang="zh-CN" altLang="en-US" dirty="0">
              <a:latin typeface="Arial" panose="020B0604020202020204" pitchFamily="34" charset="0"/>
              <a:cs typeface="Arial" panose="020B0604020202020204" pitchFamily="34" charset="0"/>
            </a:endParaRPr>
          </a:p>
          <a:p>
            <a:r>
              <a:rPr lang="zh-CN" altLang="en-US" dirty="0">
                <a:latin typeface="Arial" panose="020B0604020202020204" pitchFamily="34" charset="0"/>
                <a:cs typeface="Arial" panose="020B0604020202020204" pitchFamily="34" charset="0"/>
                <a:sym typeface="+mn-ea"/>
              </a:rPr>
              <a:t>说明：就一个类而言，应该仅有一个引起它变化的原因。</a:t>
            </a:r>
            <a:endParaRPr lang="zh-CN" altLang="en-US" dirty="0">
              <a:latin typeface="Arial" panose="020B0604020202020204" pitchFamily="34" charset="0"/>
              <a:cs typeface="Arial" panose="020B0604020202020204" pitchFamily="34" charset="0"/>
            </a:endParaRPr>
          </a:p>
          <a:p>
            <a:endParaRPr lang="zh-CN" altLang="en-US" dirty="0">
              <a:latin typeface="Arial" panose="020B0604020202020204" pitchFamily="34" charset="0"/>
              <a:cs typeface="Arial" panose="020B0604020202020204" pitchFamily="34" charset="0"/>
            </a:endParaRPr>
          </a:p>
          <a:p>
            <a:endParaRPr lang="zh-CN" altLang="en-US" dirty="0">
              <a:latin typeface="Arial" panose="020B0604020202020204" pitchFamily="34" charset="0"/>
              <a:cs typeface="Arial" panose="020B0604020202020204" pitchFamily="34" charset="0"/>
            </a:endParaRPr>
          </a:p>
          <a:p>
            <a:endParaRPr lang="zh-CN" altLang="en-US"/>
          </a:p>
          <a:p>
            <a:r>
              <a:rPr lang="zh-CN" altLang="en-US"/>
              <a:t>如果一个类承担了太多职责，一个职责的变化可能会削弱或者抑制其他职责的能力</a:t>
            </a:r>
            <a:endParaRPr lang="zh-CN" altLang="en-US"/>
          </a:p>
          <a:p>
            <a:r>
              <a:rPr lang="zh-CN" altLang="en-US"/>
              <a:t>发生变化时，可能会出现意料之外的</a:t>
            </a:r>
            <a:r>
              <a:rPr lang="en-US" altLang="zh-CN"/>
              <a:t>bug</a:t>
            </a:r>
            <a:endParaRPr lang="en-US" altLang="zh-CN"/>
          </a:p>
          <a:p>
            <a:endParaRPr lang="en-US" altLang="zh-CN"/>
          </a:p>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dirty="0">
                <a:sym typeface="+mn-ea"/>
              </a:rPr>
              <a:t>开放－封闭原则（</a:t>
            </a:r>
            <a:r>
              <a:rPr lang="en-US" altLang="zh-CN" sz="2000" dirty="0">
                <a:sym typeface="+mn-ea"/>
              </a:rPr>
              <a:t>solid.o</a:t>
            </a:r>
            <a:r>
              <a:rPr lang="zh-CN" altLang="en-US" sz="2000" dirty="0">
                <a:sym typeface="+mn-ea"/>
              </a:rPr>
              <a:t>）</a:t>
            </a:r>
            <a:endParaRPr lang="zh-CN" altLang="en-US" sz="2000" dirty="0">
              <a:sym typeface="+mn-ea"/>
            </a:endParaRPr>
          </a:p>
        </p:txBody>
      </p:sp>
      <p:sp>
        <p:nvSpPr>
          <p:cNvPr id="4" name="内容占位符 3"/>
          <p:cNvSpPr>
            <a:spLocks noGrp="1"/>
          </p:cNvSpPr>
          <p:nvPr>
            <p:ph idx="10"/>
          </p:nvPr>
        </p:nvSpPr>
        <p:spPr>
          <a:xfrm>
            <a:off x="1619885" y="1168400"/>
            <a:ext cx="7077710" cy="4824095"/>
          </a:xfrm>
        </p:spPr>
        <p:txBody>
          <a:bodyPr/>
          <a:p>
            <a:endParaRPr lang="zh-CN" altLang="en-US" dirty="0">
              <a:latin typeface="Arial" panose="020B0604020202020204" pitchFamily="34" charset="0"/>
              <a:cs typeface="Arial" panose="020B0604020202020204" pitchFamily="34" charset="0"/>
            </a:endParaRPr>
          </a:p>
          <a:p>
            <a:pPr fontAlgn="auto">
              <a:lnSpc>
                <a:spcPct val="150000"/>
              </a:lnSpc>
              <a:spcBef>
                <a:spcPts val="0"/>
              </a:spcBef>
            </a:pPr>
            <a:r>
              <a:rPr lang="zh-CN" altLang="en-US" dirty="0">
                <a:latin typeface="Arial" panose="020B0604020202020204" pitchFamily="34" charset="0"/>
                <a:cs typeface="Arial" panose="020B0604020202020204" pitchFamily="34" charset="0"/>
              </a:rPr>
              <a:t>全称：“Open-Closed Principle”</a:t>
            </a:r>
            <a:endParaRPr lang="zh-CN" altLang="en-US" dirty="0">
              <a:latin typeface="Arial" panose="020B0604020202020204" pitchFamily="34" charset="0"/>
              <a:cs typeface="Arial" panose="020B0604020202020204" pitchFamily="34" charset="0"/>
            </a:endParaRPr>
          </a:p>
          <a:p>
            <a:pPr fontAlgn="auto">
              <a:lnSpc>
                <a:spcPct val="150000"/>
              </a:lnSpc>
              <a:spcBef>
                <a:spcPts val="0"/>
              </a:spcBef>
            </a:pPr>
            <a:r>
              <a:rPr lang="zh-CN" altLang="en-US" dirty="0">
                <a:latin typeface="Arial" panose="020B0604020202020204" pitchFamily="34" charset="0"/>
                <a:cs typeface="Arial" panose="020B0604020202020204" pitchFamily="34" charset="0"/>
              </a:rPr>
              <a:t>说明：对扩展开放，对修改关闭。</a:t>
            </a:r>
            <a:endParaRPr lang="zh-CN" altLang="en-US" dirty="0">
              <a:latin typeface="Arial" panose="020B0604020202020204" pitchFamily="34" charset="0"/>
              <a:cs typeface="Arial" panose="020B0604020202020204" pitchFamily="34" charset="0"/>
            </a:endParaRPr>
          </a:p>
          <a:p>
            <a:pPr fontAlgn="auto">
              <a:lnSpc>
                <a:spcPct val="150000"/>
              </a:lnSpc>
              <a:spcBef>
                <a:spcPts val="0"/>
              </a:spcBef>
            </a:pPr>
            <a:r>
              <a:rPr lang="zh-CN" altLang="en-US" dirty="0">
                <a:latin typeface="Arial" panose="020B0604020202020204" pitchFamily="34" charset="0"/>
                <a:cs typeface="Arial" panose="020B0604020202020204" pitchFamily="34" charset="0"/>
              </a:rPr>
              <a:t>优点：只增加，不修改，节省测试成本，安全</a:t>
            </a:r>
            <a:endParaRPr lang="zh-CN" altLang="en-US" dirty="0">
              <a:latin typeface="Arial" panose="020B0604020202020204" pitchFamily="34" charset="0"/>
              <a:cs typeface="Arial" panose="020B0604020202020204" pitchFamily="34" charset="0"/>
            </a:endParaRPr>
          </a:p>
          <a:p>
            <a:pPr fontAlgn="auto">
              <a:lnSpc>
                <a:spcPct val="150000"/>
              </a:lnSpc>
              <a:spcBef>
                <a:spcPts val="0"/>
              </a:spcBef>
            </a:pPr>
            <a:endParaRPr lang="zh-CN" altLang="en-US" dirty="0">
              <a:latin typeface="Arial" panose="020B0604020202020204" pitchFamily="34" charset="0"/>
              <a:cs typeface="Arial" panose="020B0604020202020204" pitchFamily="34" charset="0"/>
            </a:endParaRPr>
          </a:p>
          <a:p>
            <a:pPr fontAlgn="auto">
              <a:lnSpc>
                <a:spcPct val="150000"/>
              </a:lnSpc>
              <a:spcBef>
                <a:spcPts val="0"/>
              </a:spcBef>
            </a:pPr>
            <a:r>
              <a:rPr lang="en-US" altLang="zh-CN" dirty="0">
                <a:latin typeface="Arial" panose="020B0604020202020204" pitchFamily="34" charset="0"/>
                <a:cs typeface="Arial" panose="020B0604020202020204" pitchFamily="34" charset="0"/>
              </a:rPr>
              <a:t>1.</a:t>
            </a:r>
            <a:r>
              <a:rPr lang="zh-CN" altLang="en-US" dirty="0">
                <a:latin typeface="Arial" panose="020B0604020202020204" pitchFamily="34" charset="0"/>
                <a:cs typeface="Arial" panose="020B0604020202020204" pitchFamily="34" charset="0"/>
              </a:rPr>
              <a:t>软件出来之后，不修改是不现实的</a:t>
            </a:r>
            <a:endParaRPr lang="zh-CN" altLang="en-US" dirty="0">
              <a:latin typeface="Arial" panose="020B0604020202020204" pitchFamily="34" charset="0"/>
              <a:cs typeface="Arial" panose="020B0604020202020204" pitchFamily="34" charset="0"/>
            </a:endParaRPr>
          </a:p>
          <a:p>
            <a:pPr fontAlgn="auto">
              <a:lnSpc>
                <a:spcPct val="150000"/>
              </a:lnSpc>
              <a:spcBef>
                <a:spcPts val="0"/>
              </a:spcBef>
            </a:pPr>
            <a:r>
              <a:rPr lang="en-US" altLang="zh-CN" dirty="0">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无论模块是多么的</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封闭</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，都会存在一些无法对之封闭的变化，既然不可能完全封闭，设计人员必须对他设计的模块应该对哪些变化封闭做出选择，他必须猜测最有可能发生变化的种类，然后构造抽象来隔离这些变化</a:t>
            </a:r>
            <a:endParaRPr lang="zh-CN" altLang="en-US" dirty="0">
              <a:latin typeface="Arial" panose="020B0604020202020204" pitchFamily="34" charset="0"/>
              <a:cs typeface="Arial" panose="020B0604020202020204" pitchFamily="34" charset="0"/>
            </a:endParaRPr>
          </a:p>
          <a:p>
            <a:pPr fontAlgn="auto">
              <a:lnSpc>
                <a:spcPct val="150000"/>
              </a:lnSpc>
              <a:spcBef>
                <a:spcPts val="0"/>
              </a:spcBef>
            </a:pP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但是我们无法预见所有的变化，等到变化发生的时候立即采取行动！！</a:t>
            </a:r>
            <a:endParaRPr lang="zh-CN" altLang="en-US" dirty="0">
              <a:latin typeface="Arial" panose="020B0604020202020204" pitchFamily="34" charset="0"/>
              <a:cs typeface="Arial" panose="020B0604020202020204" pitchFamily="34" charset="0"/>
            </a:endParaRPr>
          </a:p>
          <a:p>
            <a:pPr fontAlgn="auto">
              <a:lnSpc>
                <a:spcPct val="150000"/>
              </a:lnSpc>
              <a:spcBef>
                <a:spcPts val="0"/>
              </a:spcBef>
            </a:pPr>
            <a:r>
              <a:rPr lang="en-US" altLang="zh-CN" dirty="0">
                <a:latin typeface="Arial" panose="020B0604020202020204" pitchFamily="34" charset="0"/>
                <a:cs typeface="Arial" panose="020B0604020202020204" pitchFamily="34" charset="0"/>
              </a:rPr>
              <a:t>4.</a:t>
            </a:r>
            <a:r>
              <a:rPr lang="zh-CN" altLang="en-US" dirty="0">
                <a:solidFill>
                  <a:srgbClr val="FF0000"/>
                </a:solidFill>
                <a:latin typeface="Arial" panose="020B0604020202020204" pitchFamily="34" charset="0"/>
                <a:cs typeface="Arial" panose="020B0604020202020204" pitchFamily="34" charset="0"/>
              </a:rPr>
              <a:t>仅对频繁发生变化的那部分做抽象，刻意的对每个部分进行抽象并不是一个好的主意</a:t>
            </a:r>
            <a:endParaRPr lang="zh-CN" altLang="en-US" dirty="0">
              <a:solidFill>
                <a:srgbClr val="FF0000"/>
              </a:solidFill>
              <a:latin typeface="Arial" panose="020B0604020202020204" pitchFamily="34" charset="0"/>
              <a:cs typeface="Arial" panose="020B0604020202020204" pitchFamily="34" charset="0"/>
            </a:endParaRPr>
          </a:p>
          <a:p>
            <a:pPr fontAlgn="auto">
              <a:lnSpc>
                <a:spcPct val="150000"/>
              </a:lnSpc>
              <a:spcBef>
                <a:spcPts val="0"/>
              </a:spcBef>
            </a:pPr>
            <a:r>
              <a:rPr lang="en-US" altLang="zh-CN" dirty="0">
                <a:latin typeface="Arial" panose="020B0604020202020204" pitchFamily="34" charset="0"/>
                <a:cs typeface="Arial" panose="020B0604020202020204" pitchFamily="34" charset="0"/>
              </a:rPr>
              <a:t>&lt;&lt;</a:t>
            </a:r>
            <a:r>
              <a:rPr lang="zh-CN" altLang="en-US" dirty="0">
                <a:latin typeface="Arial" panose="020B0604020202020204" pitchFamily="34" charset="0"/>
                <a:cs typeface="Arial" panose="020B0604020202020204" pitchFamily="34" charset="0"/>
              </a:rPr>
              <a:t>敏捷软件开发：原则、模式和实践</a:t>
            </a:r>
            <a:r>
              <a:rPr lang="en-US" altLang="zh-CN" dirty="0">
                <a:latin typeface="Arial" panose="020B0604020202020204" pitchFamily="34" charset="0"/>
                <a:cs typeface="Arial" panose="020B0604020202020204" pitchFamily="34" charset="0"/>
              </a:rPr>
              <a:t>&gt;&gt;</a:t>
            </a:r>
            <a:endParaRPr lang="en-US" altLang="zh-CN" dirty="0">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dirty="0">
                <a:sym typeface="+mn-ea"/>
              </a:rPr>
              <a:t>里氏代换原则（</a:t>
            </a:r>
            <a:r>
              <a:rPr lang="en-US" altLang="zh-CN" sz="2000" dirty="0">
                <a:sym typeface="+mn-ea"/>
              </a:rPr>
              <a:t>solid.l</a:t>
            </a:r>
            <a:r>
              <a:rPr lang="zh-CN" altLang="en-US" sz="2000" dirty="0">
                <a:sym typeface="+mn-ea"/>
              </a:rPr>
              <a:t>）</a:t>
            </a:r>
            <a:endParaRPr lang="zh-CN" altLang="en-US" sz="2000" dirty="0">
              <a:sym typeface="+mn-ea"/>
            </a:endParaRPr>
          </a:p>
        </p:txBody>
      </p:sp>
      <p:sp>
        <p:nvSpPr>
          <p:cNvPr id="4" name="内容占位符 3"/>
          <p:cNvSpPr>
            <a:spLocks noGrp="1"/>
          </p:cNvSpPr>
          <p:nvPr>
            <p:ph idx="10"/>
          </p:nvPr>
        </p:nvSpPr>
        <p:spPr>
          <a:xfrm>
            <a:off x="1619885" y="1168400"/>
            <a:ext cx="7077710" cy="4824095"/>
          </a:xfrm>
        </p:spPr>
        <p:txBody>
          <a:bodyPr/>
          <a:p>
            <a:pPr fontAlgn="auto">
              <a:lnSpc>
                <a:spcPct val="150000"/>
              </a:lnSpc>
            </a:pPr>
            <a:r>
              <a:rPr lang="zh-CN" altLang="en-US" dirty="0">
                <a:latin typeface="Arial" panose="020B0604020202020204" pitchFamily="34" charset="0"/>
                <a:cs typeface="Arial" panose="020B0604020202020204" pitchFamily="34" charset="0"/>
              </a:rPr>
              <a:t>全称：“Liskov Substitution Principle”</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说明：子类型必须能够替换它们的基类型。一个软件实体如果使用的是一个基类，那么当把这个基类替换成继承该基类的子类，程序的行为不会发生任何变化。软件实体察觉不出基类对象和子类对象的区别。</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优点：可以很容易的实现同一父类下各个子类的互换，而客户端可以毫不察觉。</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白话：一个软件如果使用的是父类的话，那么一定适用于其子类，而且它察觉不出父类对象和子类对象的区别。也就是，在软件里面，把父类都替换成它的子类，程序的行为没有变化。</a:t>
            </a:r>
            <a:endParaRPr lang="zh-CN" altLang="en-US" dirty="0">
              <a:latin typeface="Arial" panose="020B0604020202020204" pitchFamily="34" charset="0"/>
              <a:cs typeface="Arial" panose="020B0604020202020204" pitchFamily="34" charset="0"/>
            </a:endParaRPr>
          </a:p>
        </p:txBody>
      </p:sp>
      <p:pic>
        <p:nvPicPr>
          <p:cNvPr id="3" name="图片 2"/>
          <p:cNvPicPr>
            <a:picLocks noChangeAspect="1"/>
          </p:cNvPicPr>
          <p:nvPr/>
        </p:nvPicPr>
        <p:blipFill>
          <a:blip r:embed="rId1"/>
          <a:stretch>
            <a:fillRect/>
          </a:stretch>
        </p:blipFill>
        <p:spPr>
          <a:xfrm>
            <a:off x="4740275" y="3639820"/>
            <a:ext cx="2828290" cy="23526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dirty="0">
                <a:sym typeface="+mn-ea"/>
              </a:rPr>
              <a:t>接口隔离原则（</a:t>
            </a:r>
            <a:r>
              <a:rPr lang="en-US" altLang="zh-CN" sz="2000" dirty="0">
                <a:sym typeface="+mn-ea"/>
              </a:rPr>
              <a:t>solid.i</a:t>
            </a:r>
            <a:r>
              <a:rPr lang="zh-CN" altLang="en-US" sz="2000" dirty="0">
                <a:sym typeface="+mn-ea"/>
              </a:rPr>
              <a:t>）</a:t>
            </a:r>
            <a:endParaRPr lang="zh-CN" altLang="en-US" sz="2000" dirty="0">
              <a:sym typeface="+mn-ea"/>
            </a:endParaRPr>
          </a:p>
        </p:txBody>
      </p:sp>
      <p:sp>
        <p:nvSpPr>
          <p:cNvPr id="4" name="内容占位符 3"/>
          <p:cNvSpPr>
            <a:spLocks noGrp="1"/>
          </p:cNvSpPr>
          <p:nvPr>
            <p:ph idx="10"/>
          </p:nvPr>
        </p:nvSpPr>
        <p:spPr>
          <a:xfrm>
            <a:off x="1619885" y="1168400"/>
            <a:ext cx="7077710" cy="4824095"/>
          </a:xfrm>
        </p:spPr>
        <p:txBody>
          <a:bodyPr/>
          <a:p>
            <a:pPr fontAlgn="auto">
              <a:lnSpc>
                <a:spcPct val="150000"/>
              </a:lnSpc>
            </a:pPr>
            <a:r>
              <a:rPr lang="zh-CN" altLang="en-US" dirty="0">
                <a:latin typeface="Arial" panose="020B0604020202020204" pitchFamily="34" charset="0"/>
                <a:cs typeface="Arial" panose="020B0604020202020204" pitchFamily="34" charset="0"/>
              </a:rPr>
              <a:t>全称：“Interface Segregation Principle”</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说明：使用多个专一功能的接口比使用一个的总接口总要好。从一个客户类的角度来讲：一个类对另外一个类的依赖性应当是建立在最小接口上的。过于臃肿的接口是对接口的污染，不应该强迫客户依赖于它们不用的方法。</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优点：会使一个软件系统功能扩展时，修改的压力不会传到别的对象那里。</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如何实现接口隔离原则</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不应该强迫用户依赖于他们不用的方法。</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1、利用委托分离接口。</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2、利用多继承分离接口。</a:t>
            </a:r>
            <a:endParaRPr lang="zh-CN" altLang="en-US" dirty="0">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dirty="0">
                <a:sym typeface="+mn-ea"/>
              </a:rPr>
              <a:t>依赖倒置原则（</a:t>
            </a:r>
            <a:r>
              <a:rPr lang="en-US" altLang="zh-CN" sz="2000" dirty="0">
                <a:sym typeface="+mn-ea"/>
              </a:rPr>
              <a:t>solid.d</a:t>
            </a:r>
            <a:r>
              <a:rPr lang="zh-CN" altLang="en-US" sz="2000" dirty="0">
                <a:sym typeface="+mn-ea"/>
              </a:rPr>
              <a:t>）</a:t>
            </a:r>
            <a:endParaRPr lang="zh-CN" altLang="en-US" sz="2000" dirty="0">
              <a:sym typeface="+mn-ea"/>
            </a:endParaRPr>
          </a:p>
        </p:txBody>
      </p:sp>
      <p:sp>
        <p:nvSpPr>
          <p:cNvPr id="4" name="内容占位符 3"/>
          <p:cNvSpPr>
            <a:spLocks noGrp="1"/>
          </p:cNvSpPr>
          <p:nvPr>
            <p:ph idx="10"/>
          </p:nvPr>
        </p:nvSpPr>
        <p:spPr>
          <a:xfrm>
            <a:off x="1619885" y="1168400"/>
            <a:ext cx="7077710" cy="4824095"/>
          </a:xfrm>
        </p:spPr>
        <p:txBody>
          <a:bodyPr/>
          <a:p>
            <a:pPr fontAlgn="auto">
              <a:lnSpc>
                <a:spcPct val="150000"/>
              </a:lnSpc>
            </a:pPr>
            <a:r>
              <a:rPr lang="zh-CN" altLang="en-US" dirty="0">
                <a:latin typeface="Arial" panose="020B0604020202020204" pitchFamily="34" charset="0"/>
                <a:cs typeface="Arial" panose="020B0604020202020204" pitchFamily="34" charset="0"/>
              </a:rPr>
              <a:t>全称：“Dependence Inversion Principle”</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说明：要依赖于抽象，不要依赖于具体。客户端依赖于抽象耦合。</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抽象不应当依赖于细节；细节应当依赖于抽象；</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要针对接口编程，不针对实现编程。</a:t>
            </a:r>
            <a:endParaRPr lang="zh-CN" altLang="en-US" dirty="0">
              <a:latin typeface="Arial" panose="020B0604020202020204" pitchFamily="34" charset="0"/>
              <a:cs typeface="Arial" panose="020B0604020202020204" pitchFamily="34" charset="0"/>
            </a:endParaRPr>
          </a:p>
          <a:p>
            <a:pPr fontAlgn="auto">
              <a:lnSpc>
                <a:spcPct val="150000"/>
              </a:lnSpc>
            </a:pPr>
            <a:r>
              <a:rPr lang="zh-CN" altLang="en-US" dirty="0">
                <a:latin typeface="Arial" panose="020B0604020202020204" pitchFamily="34" charset="0"/>
                <a:cs typeface="Arial" panose="020B0604020202020204" pitchFamily="34" charset="0"/>
              </a:rPr>
              <a:t>优点：使用传统过程化程序设计所创建的依赖关系，策略依赖于细节，这是糟糕的，因为策略受到细节改变的影响。依赖倒置原则使细节和策略都依赖于抽象，抽象的稳定性决定了系统的稳定性。</a:t>
            </a:r>
            <a:endParaRPr lang="zh-CN" altLang="en-US" dirty="0">
              <a:latin typeface="Arial" panose="020B0604020202020204" pitchFamily="34" charset="0"/>
              <a:cs typeface="Arial" panose="020B0604020202020204" pitchFamily="34" charset="0"/>
            </a:endParaRPr>
          </a:p>
          <a:p>
            <a:pPr fontAlgn="auto">
              <a:lnSpc>
                <a:spcPct val="150000"/>
              </a:lnSpc>
            </a:pPr>
            <a:endParaRPr lang="zh-CN" altLang="en-US" dirty="0">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000" dirty="0">
                <a:sym typeface="+mn-ea"/>
              </a:rPr>
              <a:t>迪米特法则</a:t>
            </a:r>
            <a:endParaRPr lang="zh-CN" sz="2000" dirty="0">
              <a:sym typeface="+mn-ea"/>
            </a:endParaRPr>
          </a:p>
        </p:txBody>
      </p:sp>
      <p:sp>
        <p:nvSpPr>
          <p:cNvPr id="4" name="内容占位符 3"/>
          <p:cNvSpPr>
            <a:spLocks noGrp="1"/>
          </p:cNvSpPr>
          <p:nvPr>
            <p:ph idx="10"/>
          </p:nvPr>
        </p:nvSpPr>
        <p:spPr>
          <a:xfrm>
            <a:off x="1619885" y="1168400"/>
            <a:ext cx="7077710" cy="4824095"/>
          </a:xfrm>
        </p:spPr>
        <p:txBody>
          <a:bodyPr/>
          <a:p>
            <a:pPr fontAlgn="auto">
              <a:lnSpc>
                <a:spcPct val="150000"/>
              </a:lnSpc>
            </a:pPr>
            <a:r>
              <a:rPr lang="zh-CN" altLang="en-US" dirty="0">
                <a:latin typeface="Arial" panose="020B0604020202020204" pitchFamily="34" charset="0"/>
                <a:cs typeface="Arial" panose="020B0604020202020204" pitchFamily="34" charset="0"/>
                <a:sym typeface="+mn-ea"/>
              </a:rPr>
              <a:t>全称：“Law of Demeter”又叫作最少知识原则（Least Knowledge Principle）</a:t>
            </a:r>
            <a:endParaRPr lang="zh-CN" altLang="en-US" dirty="0">
              <a:latin typeface="Arial" panose="020B0604020202020204" pitchFamily="34" charset="0"/>
              <a:cs typeface="Arial" panose="020B0604020202020204" pitchFamily="34" charset="0"/>
              <a:sym typeface="+mn-ea"/>
            </a:endParaRPr>
          </a:p>
          <a:p>
            <a:pPr fontAlgn="auto">
              <a:lnSpc>
                <a:spcPct val="150000"/>
              </a:lnSpc>
            </a:pPr>
            <a:r>
              <a:rPr lang="zh-CN" altLang="en-US" dirty="0">
                <a:latin typeface="Arial" panose="020B0604020202020204" pitchFamily="34" charset="0"/>
                <a:cs typeface="Arial" panose="020B0604020202020204" pitchFamily="34" charset="0"/>
                <a:sym typeface="+mn-ea"/>
              </a:rPr>
              <a:t>说明：</a:t>
            </a:r>
            <a:r>
              <a:rPr lang="zh-CN" altLang="en-US" dirty="0">
                <a:solidFill>
                  <a:schemeClr val="tx1"/>
                </a:solidFill>
                <a:latin typeface="Arial" panose="020B0604020202020204" pitchFamily="34" charset="0"/>
                <a:cs typeface="Arial" panose="020B0604020202020204" pitchFamily="34" charset="0"/>
                <a:sym typeface="+mn-ea"/>
              </a:rPr>
              <a:t>如果两个类不必直接通信，那么这两个类就不应当发生直接的相互作用。如果其中一个类需要调用另外一个类的某一个方法的话，可以通过第三者转发这个调用</a:t>
            </a:r>
            <a:endParaRPr lang="zh-CN" altLang="en-US" dirty="0">
              <a:latin typeface="Arial" panose="020B0604020202020204" pitchFamily="34" charset="0"/>
              <a:cs typeface="Arial" panose="020B0604020202020204" pitchFamily="34" charset="0"/>
            </a:endParaRPr>
          </a:p>
          <a:p>
            <a:pPr fontAlgn="auto">
              <a:lnSpc>
                <a:spcPct val="150000"/>
              </a:lnSpc>
            </a:pPr>
            <a:endParaRPr lang="zh-CN" altLang="en-US" dirty="0">
              <a:latin typeface="Arial" panose="020B0604020202020204" pitchFamily="34" charset="0"/>
              <a:cs typeface="Arial" panose="020B0604020202020204" pitchFamily="34" charset="0"/>
              <a:sym typeface="+mn-ea"/>
            </a:endParaRPr>
          </a:p>
          <a:p>
            <a:pPr fontAlgn="auto">
              <a:lnSpc>
                <a:spcPct val="150000"/>
              </a:lnSpc>
            </a:pPr>
            <a:r>
              <a:rPr lang="zh-CN" altLang="en-US" dirty="0">
                <a:solidFill>
                  <a:schemeClr val="tx1"/>
                </a:solidFill>
                <a:latin typeface="Arial" panose="020B0604020202020204" pitchFamily="34" charset="0"/>
                <a:cs typeface="Arial" panose="020B0604020202020204" pitchFamily="34" charset="0"/>
              </a:rPr>
              <a:t>降低类之间的耦合。由于每个类尽量减少对其他类的依赖，因此，很容易使得系统的功能模块功能独立，相互之间不存在（或很少有）依赖关系。</a:t>
            </a: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endParaRPr lang="zh-CN" altLang="en-US" dirty="0">
              <a:solidFill>
                <a:schemeClr val="tx1"/>
              </a:solidFill>
              <a:latin typeface="Arial" panose="020B0604020202020204" pitchFamily="34" charset="0"/>
              <a:cs typeface="Arial" panose="020B0604020202020204" pitchFamily="34" charset="0"/>
              <a:sym typeface="+mn-ea"/>
            </a:endParaRPr>
          </a:p>
          <a:p>
            <a:pPr fontAlgn="auto">
              <a:lnSpc>
                <a:spcPct val="150000"/>
              </a:lnSpc>
            </a:pPr>
            <a:r>
              <a:rPr lang="zh-CN" altLang="en-US" dirty="0">
                <a:solidFill>
                  <a:schemeClr val="tx1"/>
                </a:solidFill>
                <a:latin typeface="Arial" panose="020B0604020202020204" pitchFamily="34" charset="0"/>
                <a:cs typeface="Arial" panose="020B0604020202020204" pitchFamily="34" charset="0"/>
                <a:sym typeface="+mn-ea"/>
              </a:rPr>
              <a:t>优先考虑将一个类设置成不变类。</a:t>
            </a: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r>
              <a:rPr lang="zh-CN" altLang="en-US" dirty="0">
                <a:solidFill>
                  <a:schemeClr val="tx1"/>
                </a:solidFill>
                <a:latin typeface="Arial" panose="020B0604020202020204" pitchFamily="34" charset="0"/>
                <a:cs typeface="Arial" panose="020B0604020202020204" pitchFamily="34" charset="0"/>
                <a:sym typeface="+mn-ea"/>
              </a:rPr>
              <a:t>尽量降低一个类的访问权限。</a:t>
            </a: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r>
              <a:rPr lang="zh-CN" altLang="en-US" dirty="0">
                <a:solidFill>
                  <a:schemeClr val="tx1"/>
                </a:solidFill>
                <a:latin typeface="Arial" panose="020B0604020202020204" pitchFamily="34" charset="0"/>
                <a:cs typeface="Arial" panose="020B0604020202020204" pitchFamily="34" charset="0"/>
                <a:sym typeface="+mn-ea"/>
              </a:rPr>
              <a:t>尽量降低成员的访问权限。</a:t>
            </a: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endParaRPr lang="zh-CN" altLang="en-US"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000" dirty="0">
                <a:sym typeface="+mn-ea"/>
              </a:rPr>
              <a:t>合成</a:t>
            </a:r>
            <a:r>
              <a:rPr lang="en-US" altLang="zh-CN" sz="2000" dirty="0">
                <a:sym typeface="+mn-ea"/>
              </a:rPr>
              <a:t>/</a:t>
            </a:r>
            <a:r>
              <a:rPr lang="zh-CN" altLang="en-US" sz="2000" dirty="0">
                <a:sym typeface="+mn-ea"/>
              </a:rPr>
              <a:t>聚合复用原则</a:t>
            </a:r>
            <a:endParaRPr lang="zh-CN" altLang="en-US" sz="2000" dirty="0">
              <a:sym typeface="+mn-ea"/>
            </a:endParaRPr>
          </a:p>
        </p:txBody>
      </p:sp>
      <p:sp>
        <p:nvSpPr>
          <p:cNvPr id="4" name="内容占位符 3"/>
          <p:cNvSpPr>
            <a:spLocks noGrp="1"/>
          </p:cNvSpPr>
          <p:nvPr>
            <p:ph idx="10"/>
          </p:nvPr>
        </p:nvSpPr>
        <p:spPr>
          <a:xfrm>
            <a:off x="1619885" y="1168400"/>
            <a:ext cx="7077710" cy="4824095"/>
          </a:xfrm>
        </p:spPr>
        <p:txBody>
          <a:bodyPr/>
          <a:p>
            <a:pPr fontAlgn="auto">
              <a:lnSpc>
                <a:spcPct val="150000"/>
              </a:lnSpc>
            </a:pPr>
            <a:r>
              <a:rPr lang="zh-CN" altLang="en-US" dirty="0">
                <a:latin typeface="Arial" panose="020B0604020202020204" pitchFamily="34" charset="0"/>
                <a:cs typeface="Arial" panose="020B0604020202020204" pitchFamily="34" charset="0"/>
                <a:sym typeface="+mn-ea"/>
              </a:rPr>
              <a:t>全称：Composite/Aggregate Reuse Principle</a:t>
            </a:r>
            <a:endParaRPr lang="zh-CN" altLang="en-US" dirty="0">
              <a:latin typeface="Arial" panose="020B0604020202020204" pitchFamily="34" charset="0"/>
              <a:cs typeface="Arial" panose="020B0604020202020204" pitchFamily="34" charset="0"/>
              <a:sym typeface="+mn-ea"/>
            </a:endParaRPr>
          </a:p>
          <a:p>
            <a:pPr fontAlgn="auto">
              <a:lnSpc>
                <a:spcPct val="150000"/>
              </a:lnSpc>
            </a:pPr>
            <a:r>
              <a:rPr lang="zh-CN" altLang="en-US" dirty="0">
                <a:latin typeface="Arial" panose="020B0604020202020204" pitchFamily="34" charset="0"/>
                <a:cs typeface="Arial" panose="020B0604020202020204" pitchFamily="34" charset="0"/>
                <a:sym typeface="+mn-ea"/>
              </a:rPr>
              <a:t>说明：</a:t>
            </a:r>
            <a:r>
              <a:rPr lang="zh-CN" altLang="en-US" dirty="0">
                <a:solidFill>
                  <a:schemeClr val="tx1"/>
                </a:solidFill>
                <a:latin typeface="Arial" panose="020B0604020202020204" pitchFamily="34" charset="0"/>
                <a:cs typeface="Arial" panose="020B0604020202020204" pitchFamily="34" charset="0"/>
                <a:sym typeface="+mn-ea"/>
              </a:rPr>
              <a:t>尽量使用合成/聚合，而不是使用继承。</a:t>
            </a:r>
            <a:endParaRPr lang="zh-CN" altLang="en-US" dirty="0">
              <a:solidFill>
                <a:schemeClr val="tx1"/>
              </a:solidFill>
              <a:latin typeface="Arial" panose="020B0604020202020204" pitchFamily="34" charset="0"/>
              <a:cs typeface="Arial" panose="020B0604020202020204" pitchFamily="34" charset="0"/>
              <a:sym typeface="+mn-ea"/>
            </a:endParaRPr>
          </a:p>
          <a:p>
            <a:pPr fontAlgn="auto">
              <a:lnSpc>
                <a:spcPct val="150000"/>
              </a:lnSpc>
            </a:pPr>
            <a:endParaRPr lang="zh-CN" altLang="en-US" dirty="0">
              <a:solidFill>
                <a:schemeClr val="tx1"/>
              </a:solidFill>
              <a:latin typeface="Arial" panose="020B0604020202020204" pitchFamily="34" charset="0"/>
              <a:cs typeface="Arial" panose="020B0604020202020204" pitchFamily="34" charset="0"/>
              <a:sym typeface="+mn-ea"/>
            </a:endParaRPr>
          </a:p>
          <a:p>
            <a:pPr fontAlgn="auto">
              <a:lnSpc>
                <a:spcPct val="150000"/>
              </a:lnSpc>
            </a:pPr>
            <a:r>
              <a:rPr lang="zh-CN" altLang="en-US" dirty="0">
                <a:solidFill>
                  <a:schemeClr val="tx1"/>
                </a:solidFill>
                <a:latin typeface="Arial" panose="020B0604020202020204" pitchFamily="34" charset="0"/>
                <a:cs typeface="Arial" panose="020B0604020202020204" pitchFamily="34" charset="0"/>
              </a:rPr>
              <a:t>只有当以下的条件全部被满足时，才应当使用继承关系。</a:t>
            </a: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r>
              <a:rPr lang="zh-CN" altLang="en-US" dirty="0">
                <a:solidFill>
                  <a:schemeClr val="tx1"/>
                </a:solidFill>
                <a:latin typeface="Arial" panose="020B0604020202020204" pitchFamily="34" charset="0"/>
                <a:cs typeface="Arial" panose="020B0604020202020204" pitchFamily="34" charset="0"/>
              </a:rPr>
              <a:t> 1. 子类是超类的一个特殊种类，而不是超类的一个角色，也就是区分“Has-A”和“Is-A”.只有“Is-A”关系才符合继承关系，“Has-A”关系应当使用聚合来描述。</a:t>
            </a: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r>
              <a:rPr lang="zh-CN" altLang="en-US" dirty="0">
                <a:solidFill>
                  <a:schemeClr val="tx1"/>
                </a:solidFill>
                <a:latin typeface="Arial" panose="020B0604020202020204" pitchFamily="34" charset="0"/>
                <a:cs typeface="Arial" panose="020B0604020202020204" pitchFamily="34" charset="0"/>
              </a:rPr>
              <a:t> 2 .永远不会出现需要将子类换成另外一个类的子类的情况。如果不能肯定将来是否会变成另外一个子类的话，就不要使用继承。</a:t>
            </a: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r>
              <a:rPr lang="zh-CN" altLang="en-US" dirty="0">
                <a:solidFill>
                  <a:schemeClr val="tx1"/>
                </a:solidFill>
                <a:latin typeface="Arial" panose="020B0604020202020204" pitchFamily="34" charset="0"/>
                <a:cs typeface="Arial" panose="020B0604020202020204" pitchFamily="34" charset="0"/>
              </a:rPr>
              <a:t> 3 .子类具有扩展超类的责任，而不是具有置换掉或注销掉超类的责任。如果一个子类需要大量的置换掉超类的行为，那么这个类就不应该是这个超类的子类。</a:t>
            </a: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endParaRPr lang="zh-CN" altLang="en-US" dirty="0">
              <a:solidFill>
                <a:schemeClr val="tx1"/>
              </a:solidFill>
              <a:latin typeface="Arial" panose="020B0604020202020204" pitchFamily="34" charset="0"/>
              <a:cs typeface="Arial" panose="020B0604020202020204" pitchFamily="34" charset="0"/>
              <a:sym typeface="+mn-ea"/>
            </a:endParaRPr>
          </a:p>
          <a:p>
            <a:pPr fontAlgn="auto">
              <a:lnSpc>
                <a:spcPct val="150000"/>
              </a:lnSpc>
            </a:pPr>
            <a:endParaRPr lang="zh-CN" altLang="en-US" dirty="0">
              <a:solidFill>
                <a:schemeClr val="tx1"/>
              </a:solidFill>
              <a:latin typeface="Arial" panose="020B0604020202020204" pitchFamily="34" charset="0"/>
              <a:cs typeface="Arial" panose="020B0604020202020204" pitchFamily="34" charset="0"/>
            </a:endParaRPr>
          </a:p>
          <a:p>
            <a:pPr fontAlgn="auto">
              <a:lnSpc>
                <a:spcPct val="150000"/>
              </a:lnSpc>
            </a:pPr>
            <a:endParaRPr lang="zh-CN" altLang="en-US"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0"/>
          </p:nvPr>
        </p:nvSpPr>
        <p:spPr>
          <a:xfrm>
            <a:off x="2150745" y="805815"/>
            <a:ext cx="6563360" cy="4824095"/>
          </a:xfrm>
        </p:spPr>
        <p:txBody>
          <a:bodyPr/>
          <a:p>
            <a:r>
              <a:rPr lang="zh-CN" altLang="en-US"/>
              <a:t>创建型</a:t>
            </a:r>
            <a:endParaRPr lang="zh-CN" altLang="en-US"/>
          </a:p>
          <a:p>
            <a:endParaRPr lang="zh-CN" altLang="en-US"/>
          </a:p>
          <a:p>
            <a:r>
              <a:rPr lang="zh-CN" altLang="en-US"/>
              <a:t>1. Factory Method（工厂方法）</a:t>
            </a:r>
            <a:endParaRPr lang="zh-CN" altLang="en-US"/>
          </a:p>
          <a:p>
            <a:endParaRPr lang="zh-CN" altLang="en-US"/>
          </a:p>
          <a:p>
            <a:r>
              <a:rPr lang="zh-CN" altLang="en-US"/>
              <a:t>2. Abstract Factory（抽象工厂）</a:t>
            </a:r>
            <a:endParaRPr lang="zh-CN" altLang="en-US"/>
          </a:p>
          <a:p>
            <a:endParaRPr lang="zh-CN" altLang="en-US"/>
          </a:p>
          <a:p>
            <a:r>
              <a:rPr lang="zh-CN" altLang="en-US"/>
              <a:t>3. Builder（建造者）</a:t>
            </a:r>
            <a:endParaRPr lang="zh-CN" altLang="en-US"/>
          </a:p>
          <a:p>
            <a:endParaRPr lang="zh-CN" altLang="en-US"/>
          </a:p>
          <a:p>
            <a:r>
              <a:rPr lang="zh-CN" altLang="en-US"/>
              <a:t>4. Prototype（原型）</a:t>
            </a:r>
            <a:endParaRPr lang="zh-CN" altLang="en-US"/>
          </a:p>
          <a:p>
            <a:endParaRPr lang="zh-CN" altLang="en-US"/>
          </a:p>
          <a:p>
            <a:r>
              <a:rPr lang="zh-CN" altLang="en-US"/>
              <a:t>5. Singleton（单例）</a:t>
            </a:r>
            <a:endParaRPr lang="zh-CN" altLang="en-US"/>
          </a:p>
          <a:p>
            <a:endParaRPr lang="zh-CN" altLang="en-US"/>
          </a:p>
          <a:p>
            <a:endParaRPr lang="zh-CN" altLang="en-US"/>
          </a:p>
          <a:p>
            <a:pPr fontAlgn="auto">
              <a:lnSpc>
                <a:spcPct val="150000"/>
              </a:lnSpc>
              <a:spcBef>
                <a:spcPts val="0"/>
              </a:spcBef>
            </a:pPr>
            <a:r>
              <a:rPr lang="zh-CN" altLang="en-US"/>
              <a:t>创建型模式隐藏了这些类的实例是如何被创建和放在一起，整个系统关于这些对象所知道的是由抽象类所定义的接口。这样，创建型模式在创建什么，谁创建它，它是怎么创建的，以及何时创建这些方面提供了很大的灵活性</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抽象工厂</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提供一个创建一系列或相关依赖对象的接口，而无需指定他们具体的类</a:t>
            </a:r>
            <a:endParaRPr lang="zh-CN" altLang="en-US"/>
          </a:p>
        </p:txBody>
      </p:sp>
      <p:pic>
        <p:nvPicPr>
          <p:cNvPr id="5" name="内容占位符 4"/>
          <p:cNvPicPr>
            <a:picLocks noChangeAspect="1"/>
          </p:cNvPicPr>
          <p:nvPr>
            <p:ph idx="10"/>
          </p:nvPr>
        </p:nvPicPr>
        <p:blipFill>
          <a:blip r:embed="rId1"/>
          <a:stretch>
            <a:fillRect/>
          </a:stretch>
        </p:blipFill>
        <p:spPr>
          <a:xfrm>
            <a:off x="3119755" y="2413000"/>
            <a:ext cx="4591050" cy="30099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建造者</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讲一个复杂对象的构建和它的表示分离，使得同样的构建过程可以创建不同的表示</a:t>
            </a:r>
            <a:endParaRPr lang="zh-CN" altLang="en-US"/>
          </a:p>
        </p:txBody>
      </p:sp>
      <p:pic>
        <p:nvPicPr>
          <p:cNvPr id="6" name="内容占位符 5"/>
          <p:cNvPicPr>
            <a:picLocks noChangeAspect="1"/>
          </p:cNvPicPr>
          <p:nvPr>
            <p:ph idx="10"/>
          </p:nvPr>
        </p:nvPicPr>
        <p:blipFill>
          <a:blip r:embed="rId1"/>
          <a:stretch>
            <a:fillRect/>
          </a:stretch>
        </p:blipFill>
        <p:spPr>
          <a:xfrm>
            <a:off x="2134235" y="2378075"/>
            <a:ext cx="6563360" cy="3079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工厂方法</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定义一个用户创建对象的接口，让子类决定实例化哪一个类，工厂模式使一个类的实例化延迟到其子类</a:t>
            </a:r>
            <a:endParaRPr lang="zh-CN" altLang="en-US"/>
          </a:p>
        </p:txBody>
      </p:sp>
      <p:pic>
        <p:nvPicPr>
          <p:cNvPr id="5" name="内容占位符 4"/>
          <p:cNvPicPr>
            <a:picLocks noChangeAspect="1"/>
          </p:cNvPicPr>
          <p:nvPr>
            <p:ph idx="10"/>
          </p:nvPr>
        </p:nvPicPr>
        <p:blipFill>
          <a:blip r:embed="rId1"/>
          <a:stretch>
            <a:fillRect/>
          </a:stretch>
        </p:blipFill>
        <p:spPr>
          <a:xfrm>
            <a:off x="2134235" y="2939415"/>
            <a:ext cx="6563360" cy="195707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原型</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用原型实例指定创建对象的种类，并通过拷贝这些原型创建新的对象</a:t>
            </a:r>
            <a:endParaRPr lang="zh-CN" altLang="en-US"/>
          </a:p>
        </p:txBody>
      </p:sp>
      <p:pic>
        <p:nvPicPr>
          <p:cNvPr id="6" name="内容占位符 5"/>
          <p:cNvPicPr>
            <a:picLocks noChangeAspect="1"/>
          </p:cNvPicPr>
          <p:nvPr>
            <p:ph idx="10"/>
          </p:nvPr>
        </p:nvPicPr>
        <p:blipFill>
          <a:blip r:embed="rId1"/>
          <a:stretch>
            <a:fillRect/>
          </a:stretch>
        </p:blipFill>
        <p:spPr>
          <a:xfrm>
            <a:off x="3843655" y="2555875"/>
            <a:ext cx="3143250" cy="27241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单例</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保证一个类仅有一个实例，并提供一个访问它的全局访问点</a:t>
            </a:r>
            <a:endParaRPr lang="zh-CN" altLang="en-US"/>
          </a:p>
        </p:txBody>
      </p:sp>
      <p:pic>
        <p:nvPicPr>
          <p:cNvPr id="5" name="内容占位符 4"/>
          <p:cNvPicPr>
            <a:picLocks noChangeAspect="1"/>
          </p:cNvPicPr>
          <p:nvPr>
            <p:ph idx="10"/>
          </p:nvPr>
        </p:nvPicPr>
        <p:blipFill>
          <a:blip r:embed="rId1"/>
          <a:stretch>
            <a:fillRect/>
          </a:stretch>
        </p:blipFill>
        <p:spPr>
          <a:xfrm>
            <a:off x="3628390" y="2396490"/>
            <a:ext cx="3213735" cy="234124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0"/>
          </p:nvPr>
        </p:nvSpPr>
        <p:spPr>
          <a:xfrm>
            <a:off x="2150745" y="805815"/>
            <a:ext cx="6563360" cy="4824095"/>
          </a:xfrm>
        </p:spPr>
        <p:txBody>
          <a:bodyPr/>
          <a:p>
            <a:r>
              <a:rPr lang="zh-CN" altLang="en-US"/>
              <a:t>结构型</a:t>
            </a:r>
            <a:endParaRPr lang="zh-CN" altLang="en-US"/>
          </a:p>
          <a:p>
            <a:endParaRPr lang="zh-CN" altLang="en-US"/>
          </a:p>
          <a:p>
            <a:r>
              <a:rPr lang="zh-CN" altLang="en-US"/>
              <a:t>6. Adapter Class/Object（适配器）</a:t>
            </a:r>
            <a:endParaRPr lang="zh-CN" altLang="en-US"/>
          </a:p>
          <a:p>
            <a:endParaRPr lang="zh-CN" altLang="en-US"/>
          </a:p>
          <a:p>
            <a:r>
              <a:rPr lang="zh-CN" altLang="en-US"/>
              <a:t>7. Bridge（桥接）</a:t>
            </a:r>
            <a:endParaRPr lang="zh-CN" altLang="en-US"/>
          </a:p>
          <a:p>
            <a:endParaRPr lang="zh-CN" altLang="en-US"/>
          </a:p>
          <a:p>
            <a:r>
              <a:rPr lang="zh-CN" altLang="en-US"/>
              <a:t>8. Composite（组合）</a:t>
            </a:r>
            <a:endParaRPr lang="zh-CN" altLang="en-US"/>
          </a:p>
          <a:p>
            <a:endParaRPr lang="zh-CN" altLang="en-US"/>
          </a:p>
          <a:p>
            <a:r>
              <a:rPr lang="zh-CN" altLang="en-US"/>
              <a:t>9. Decorator（装饰）</a:t>
            </a:r>
            <a:endParaRPr lang="zh-CN" altLang="en-US"/>
          </a:p>
          <a:p>
            <a:endParaRPr lang="zh-CN" altLang="en-US"/>
          </a:p>
          <a:p>
            <a:r>
              <a:rPr lang="zh-CN" altLang="en-US"/>
              <a:t>10. Facade（外观）</a:t>
            </a:r>
            <a:endParaRPr lang="zh-CN" altLang="en-US"/>
          </a:p>
          <a:p>
            <a:endParaRPr lang="zh-CN" altLang="en-US"/>
          </a:p>
          <a:p>
            <a:r>
              <a:rPr lang="zh-CN" altLang="en-US"/>
              <a:t>11. Flyweight（享元）</a:t>
            </a:r>
            <a:endParaRPr lang="zh-CN" altLang="en-US"/>
          </a:p>
          <a:p>
            <a:endParaRPr lang="zh-CN" altLang="en-US"/>
          </a:p>
          <a:p>
            <a:r>
              <a:rPr lang="zh-CN" altLang="en-US"/>
              <a:t>12. Proxy（代理）</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适配器</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将一个类的接口转换成客户希望的另外一个接口。适配器模式使得原本由于接口不兼容而不能一起工作的那些类可以一起工作</a:t>
            </a:r>
            <a:endParaRPr lang="zh-CN" altLang="en-US"/>
          </a:p>
        </p:txBody>
      </p:sp>
      <p:pic>
        <p:nvPicPr>
          <p:cNvPr id="6" name="内容占位符 5"/>
          <p:cNvPicPr>
            <a:picLocks noChangeAspect="1"/>
          </p:cNvPicPr>
          <p:nvPr>
            <p:ph idx="10"/>
          </p:nvPr>
        </p:nvPicPr>
        <p:blipFill>
          <a:blip r:embed="rId1"/>
          <a:stretch>
            <a:fillRect/>
          </a:stretch>
        </p:blipFill>
        <p:spPr>
          <a:xfrm>
            <a:off x="3331210" y="1873885"/>
            <a:ext cx="4102100" cy="41478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桥接</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将抽象部分与它的实现部分分离，使他们都可以独立的变化</a:t>
            </a:r>
            <a:endParaRPr lang="zh-CN" altLang="en-US"/>
          </a:p>
        </p:txBody>
      </p:sp>
      <p:pic>
        <p:nvPicPr>
          <p:cNvPr id="5" name="内容占位符 4"/>
          <p:cNvPicPr>
            <a:picLocks noChangeAspect="1"/>
          </p:cNvPicPr>
          <p:nvPr>
            <p:ph idx="10"/>
          </p:nvPr>
        </p:nvPicPr>
        <p:blipFill>
          <a:blip r:embed="rId1"/>
          <a:stretch>
            <a:fillRect/>
          </a:stretch>
        </p:blipFill>
        <p:spPr>
          <a:xfrm>
            <a:off x="2759710" y="1844675"/>
            <a:ext cx="5311775" cy="41478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组合</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将对象组成树形结构以表示部分</a:t>
            </a:r>
            <a:r>
              <a:rPr lang="en-US" altLang="zh-CN"/>
              <a:t>-</a:t>
            </a:r>
            <a:r>
              <a:rPr lang="zh-CN" altLang="en-US"/>
              <a:t>整体的层次结构，组合模式使得用户对单个对象和组合对象的使用具有一致性</a:t>
            </a:r>
            <a:endParaRPr lang="zh-CN" altLang="en-US"/>
          </a:p>
        </p:txBody>
      </p:sp>
      <p:pic>
        <p:nvPicPr>
          <p:cNvPr id="6" name="内容占位符 5"/>
          <p:cNvPicPr>
            <a:picLocks noChangeAspect="1"/>
          </p:cNvPicPr>
          <p:nvPr>
            <p:ph idx="10"/>
          </p:nvPr>
        </p:nvPicPr>
        <p:blipFill>
          <a:blip r:embed="rId1"/>
          <a:stretch>
            <a:fillRect/>
          </a:stretch>
        </p:blipFill>
        <p:spPr>
          <a:xfrm>
            <a:off x="2658110" y="2043430"/>
            <a:ext cx="5076825" cy="29464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装饰</a:t>
            </a:r>
            <a:endParaRPr lang="zh-CN" altLang="en-US" sz="2000">
              <a:sym typeface="+mn-ea"/>
            </a:endParaRPr>
          </a:p>
        </p:txBody>
      </p:sp>
      <p:sp>
        <p:nvSpPr>
          <p:cNvPr id="3" name="内容占位符 2"/>
          <p:cNvSpPr>
            <a:spLocks noGrp="1"/>
          </p:cNvSpPr>
          <p:nvPr>
            <p:ph idx="1"/>
          </p:nvPr>
        </p:nvSpPr>
        <p:spPr>
          <a:xfrm>
            <a:off x="2123440" y="1069975"/>
            <a:ext cx="6563360" cy="659130"/>
          </a:xfrm>
        </p:spPr>
        <p:txBody>
          <a:bodyPr/>
          <a:p>
            <a:r>
              <a:rPr lang="zh-CN" altLang="en-US"/>
              <a:t>动态的给一个对象添加一些额外的职责。就增加功能来说，装饰模式相比生成子类更加灵活</a:t>
            </a:r>
            <a:endParaRPr lang="zh-CN" altLang="en-US"/>
          </a:p>
        </p:txBody>
      </p:sp>
      <p:pic>
        <p:nvPicPr>
          <p:cNvPr id="5" name="内容占位符 4"/>
          <p:cNvPicPr>
            <a:picLocks noChangeAspect="1"/>
          </p:cNvPicPr>
          <p:nvPr>
            <p:ph idx="10"/>
          </p:nvPr>
        </p:nvPicPr>
        <p:blipFill>
          <a:blip r:embed="rId1"/>
          <a:stretch>
            <a:fillRect/>
          </a:stretch>
        </p:blipFill>
        <p:spPr>
          <a:xfrm>
            <a:off x="3119755" y="1897380"/>
            <a:ext cx="4343400" cy="36322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外观</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为子系统中的一组接口提供一个一致的界面，外观模式定义了一个高层接口，这个接口使得这一子系统更加容易使用，信息的隐藏促进了软件的复用</a:t>
            </a:r>
            <a:endParaRPr lang="zh-CN" altLang="en-US"/>
          </a:p>
        </p:txBody>
      </p:sp>
      <p:pic>
        <p:nvPicPr>
          <p:cNvPr id="6" name="内容占位符 5"/>
          <p:cNvPicPr>
            <a:picLocks noChangeAspect="1"/>
          </p:cNvPicPr>
          <p:nvPr>
            <p:ph idx="10"/>
          </p:nvPr>
        </p:nvPicPr>
        <p:blipFill>
          <a:blip r:embed="rId1"/>
          <a:stretch>
            <a:fillRect/>
          </a:stretch>
        </p:blipFill>
        <p:spPr>
          <a:xfrm>
            <a:off x="3805555" y="2389505"/>
            <a:ext cx="3219450" cy="30575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代理</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为其他对象提供一个代理以控制对这个对象的访问</a:t>
            </a:r>
            <a:endParaRPr lang="zh-CN" altLang="en-US"/>
          </a:p>
          <a:p>
            <a:r>
              <a:rPr lang="zh-CN" altLang="en-US"/>
              <a:t>To interface to anything that is expensive or impossible to duplicate.</a:t>
            </a:r>
            <a:endParaRPr lang="zh-CN" altLang="en-US"/>
          </a:p>
        </p:txBody>
      </p:sp>
      <p:pic>
        <p:nvPicPr>
          <p:cNvPr id="5" name="内容占位符 4"/>
          <p:cNvPicPr>
            <a:picLocks noChangeAspect="1"/>
          </p:cNvPicPr>
          <p:nvPr>
            <p:ph idx="10"/>
          </p:nvPr>
        </p:nvPicPr>
        <p:blipFill>
          <a:blip r:embed="rId1"/>
          <a:stretch>
            <a:fillRect/>
          </a:stretch>
        </p:blipFill>
        <p:spPr>
          <a:xfrm>
            <a:off x="4453255" y="2451100"/>
            <a:ext cx="1924050" cy="29337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0"/>
          </p:nvPr>
        </p:nvSpPr>
        <p:spPr>
          <a:xfrm>
            <a:off x="2150745" y="805815"/>
            <a:ext cx="6563360" cy="4824095"/>
          </a:xfrm>
        </p:spPr>
        <p:txBody>
          <a:bodyPr/>
          <a:p>
            <a:r>
              <a:rPr lang="zh-CN" altLang="en-US"/>
              <a:t>行为型</a:t>
            </a:r>
            <a:endParaRPr lang="zh-CN" altLang="en-US"/>
          </a:p>
          <a:p>
            <a:pPr fontAlgn="auto">
              <a:lnSpc>
                <a:spcPct val="150000"/>
              </a:lnSpc>
              <a:spcBef>
                <a:spcPts val="0"/>
              </a:spcBef>
            </a:pPr>
            <a:endParaRPr lang="zh-CN" altLang="en-US"/>
          </a:p>
          <a:p>
            <a:pPr fontAlgn="auto">
              <a:lnSpc>
                <a:spcPct val="150000"/>
              </a:lnSpc>
              <a:spcBef>
                <a:spcPts val="0"/>
              </a:spcBef>
            </a:pPr>
            <a:r>
              <a:rPr lang="zh-CN" altLang="en-US"/>
              <a:t>13. Interpreter（解释器）</a:t>
            </a:r>
            <a:endParaRPr lang="zh-CN" altLang="en-US"/>
          </a:p>
          <a:p>
            <a:pPr fontAlgn="auto">
              <a:lnSpc>
                <a:spcPct val="150000"/>
              </a:lnSpc>
              <a:spcBef>
                <a:spcPts val="0"/>
              </a:spcBef>
            </a:pPr>
            <a:r>
              <a:rPr lang="zh-CN" altLang="en-US"/>
              <a:t>14. Template Method（模板方法）</a:t>
            </a:r>
            <a:endParaRPr lang="zh-CN" altLang="en-US"/>
          </a:p>
          <a:p>
            <a:pPr fontAlgn="auto">
              <a:lnSpc>
                <a:spcPct val="150000"/>
              </a:lnSpc>
              <a:spcBef>
                <a:spcPts val="0"/>
              </a:spcBef>
            </a:pPr>
            <a:r>
              <a:rPr lang="zh-CN" altLang="en-US"/>
              <a:t>15. Chain of Responsibility（责任链）</a:t>
            </a:r>
            <a:endParaRPr lang="zh-CN" altLang="en-US"/>
          </a:p>
          <a:p>
            <a:pPr fontAlgn="auto">
              <a:lnSpc>
                <a:spcPct val="150000"/>
              </a:lnSpc>
              <a:spcBef>
                <a:spcPts val="0"/>
              </a:spcBef>
            </a:pPr>
            <a:r>
              <a:rPr lang="zh-CN" altLang="en-US"/>
              <a:t>16. Command（命令）</a:t>
            </a:r>
            <a:endParaRPr lang="zh-CN" altLang="en-US"/>
          </a:p>
          <a:p>
            <a:pPr fontAlgn="auto">
              <a:lnSpc>
                <a:spcPct val="150000"/>
              </a:lnSpc>
              <a:spcBef>
                <a:spcPts val="0"/>
              </a:spcBef>
            </a:pPr>
            <a:r>
              <a:rPr lang="zh-CN" altLang="en-US"/>
              <a:t>17. Iterator（迭代器）</a:t>
            </a:r>
            <a:endParaRPr lang="zh-CN" altLang="en-US"/>
          </a:p>
          <a:p>
            <a:pPr fontAlgn="auto">
              <a:lnSpc>
                <a:spcPct val="150000"/>
              </a:lnSpc>
              <a:spcBef>
                <a:spcPts val="0"/>
              </a:spcBef>
            </a:pPr>
            <a:r>
              <a:rPr lang="zh-CN" altLang="en-US"/>
              <a:t>18. Mediator（中介者）</a:t>
            </a:r>
            <a:endParaRPr lang="zh-CN" altLang="en-US"/>
          </a:p>
          <a:p>
            <a:pPr fontAlgn="auto">
              <a:lnSpc>
                <a:spcPct val="150000"/>
              </a:lnSpc>
              <a:spcBef>
                <a:spcPts val="0"/>
              </a:spcBef>
            </a:pPr>
            <a:r>
              <a:rPr lang="zh-CN" altLang="en-US"/>
              <a:t>19. Memento（备忘录）</a:t>
            </a:r>
            <a:endParaRPr lang="zh-CN" altLang="en-US"/>
          </a:p>
          <a:p>
            <a:pPr fontAlgn="auto">
              <a:lnSpc>
                <a:spcPct val="150000"/>
              </a:lnSpc>
              <a:spcBef>
                <a:spcPts val="0"/>
              </a:spcBef>
            </a:pPr>
            <a:r>
              <a:rPr lang="zh-CN" altLang="en-US"/>
              <a:t>20. Observer（观察者）</a:t>
            </a:r>
            <a:endParaRPr lang="zh-CN" altLang="en-US"/>
          </a:p>
          <a:p>
            <a:pPr fontAlgn="auto">
              <a:lnSpc>
                <a:spcPct val="150000"/>
              </a:lnSpc>
              <a:spcBef>
                <a:spcPts val="0"/>
              </a:spcBef>
            </a:pPr>
            <a:r>
              <a:rPr lang="zh-CN" altLang="en-US"/>
              <a:t>21. State（状态）</a:t>
            </a:r>
            <a:endParaRPr lang="zh-CN" altLang="en-US"/>
          </a:p>
          <a:p>
            <a:pPr fontAlgn="auto">
              <a:lnSpc>
                <a:spcPct val="150000"/>
              </a:lnSpc>
              <a:spcBef>
                <a:spcPts val="0"/>
              </a:spcBef>
            </a:pPr>
            <a:r>
              <a:rPr lang="zh-CN" altLang="en-US"/>
              <a:t>22. Strategy（策略）</a:t>
            </a:r>
            <a:endParaRPr lang="zh-CN" altLang="en-US"/>
          </a:p>
          <a:p>
            <a:pPr fontAlgn="auto">
              <a:lnSpc>
                <a:spcPct val="150000"/>
              </a:lnSpc>
              <a:spcBef>
                <a:spcPts val="0"/>
              </a:spcBef>
            </a:pPr>
            <a:r>
              <a:rPr lang="zh-CN" altLang="en-US"/>
              <a:t>23. Visitor（访问者）</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观察者</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定义对象之间的一对多的依赖关系，当一个对象的状态发生改变时，所有依赖他的对象都要得到通知并被更新</a:t>
            </a:r>
            <a:endParaRPr lang="zh-CN" altLang="en-US"/>
          </a:p>
        </p:txBody>
      </p:sp>
      <p:pic>
        <p:nvPicPr>
          <p:cNvPr id="6" name="内容占位符 5"/>
          <p:cNvPicPr>
            <a:picLocks noChangeAspect="1"/>
          </p:cNvPicPr>
          <p:nvPr>
            <p:ph idx="10"/>
          </p:nvPr>
        </p:nvPicPr>
        <p:blipFill>
          <a:blip r:embed="rId1"/>
          <a:stretch>
            <a:fillRect/>
          </a:stretch>
        </p:blipFill>
        <p:spPr>
          <a:xfrm>
            <a:off x="3030220" y="1987550"/>
            <a:ext cx="4702810" cy="363918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模板方法</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定义一个操作的算法骨架，而将一些步骤延迟到子类中，模板方法使得子类可以不改变一个算法的结构即可重新定义该算法的某一些特定的步骤</a:t>
            </a:r>
            <a:endParaRPr lang="zh-CN" altLang="en-US"/>
          </a:p>
        </p:txBody>
      </p:sp>
      <p:pic>
        <p:nvPicPr>
          <p:cNvPr id="5" name="内容占位符 4"/>
          <p:cNvPicPr>
            <a:picLocks noChangeAspect="1"/>
          </p:cNvPicPr>
          <p:nvPr>
            <p:ph idx="10"/>
          </p:nvPr>
        </p:nvPicPr>
        <p:blipFill>
          <a:blip r:embed="rId1"/>
          <a:stretch>
            <a:fillRect/>
          </a:stretch>
        </p:blipFill>
        <p:spPr>
          <a:xfrm>
            <a:off x="3064510" y="2098675"/>
            <a:ext cx="4320540" cy="335470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命令</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将一个请求封装位一个对象，从而使你可用不同的请求对客户进行参数化；可以对请求排队或记录请求日志，以及支持可撤销的操作</a:t>
            </a:r>
            <a:endParaRPr lang="zh-CN" altLang="en-US"/>
          </a:p>
        </p:txBody>
      </p:sp>
      <p:pic>
        <p:nvPicPr>
          <p:cNvPr id="6" name="内容占位符 5"/>
          <p:cNvPicPr>
            <a:picLocks noChangeAspect="1"/>
          </p:cNvPicPr>
          <p:nvPr>
            <p:ph idx="10"/>
          </p:nvPr>
        </p:nvPicPr>
        <p:blipFill>
          <a:blip r:embed="rId1"/>
          <a:stretch>
            <a:fillRect/>
          </a:stretch>
        </p:blipFill>
        <p:spPr>
          <a:xfrm>
            <a:off x="3023235" y="2176145"/>
            <a:ext cx="4763770" cy="28181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职责链</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使多个对象都有机会处理请求，从而避免请求的发送者和接受者之间的耦合关系。将这些对象连城一条链，并沿着这条链传递该请求，直到有一个对象处理它为止</a:t>
            </a:r>
            <a:endParaRPr lang="zh-CN" altLang="en-US"/>
          </a:p>
        </p:txBody>
      </p:sp>
      <p:pic>
        <p:nvPicPr>
          <p:cNvPr id="6" name="内容占位符 5"/>
          <p:cNvPicPr>
            <a:picLocks noChangeAspect="1"/>
          </p:cNvPicPr>
          <p:nvPr>
            <p:ph idx="10"/>
          </p:nvPr>
        </p:nvPicPr>
        <p:blipFill>
          <a:blip r:embed="rId1"/>
          <a:stretch>
            <a:fillRect/>
          </a:stretch>
        </p:blipFill>
        <p:spPr>
          <a:xfrm>
            <a:off x="2846705" y="2179320"/>
            <a:ext cx="5116830" cy="352996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中介者</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用一个中介对象来封装一系列对象的交互。中介者使各对象不需要显示的互相引用，从而使其松耦合</a:t>
            </a:r>
            <a:endParaRPr lang="zh-CN" altLang="en-US"/>
          </a:p>
        </p:txBody>
      </p:sp>
      <p:pic>
        <p:nvPicPr>
          <p:cNvPr id="5" name="内容占位符 4"/>
          <p:cNvPicPr>
            <a:picLocks noChangeAspect="1"/>
          </p:cNvPicPr>
          <p:nvPr>
            <p:ph idx="10"/>
          </p:nvPr>
        </p:nvPicPr>
        <p:blipFill>
          <a:blip r:embed="rId1"/>
          <a:stretch>
            <a:fillRect/>
          </a:stretch>
        </p:blipFill>
        <p:spPr>
          <a:xfrm>
            <a:off x="2134235" y="2305050"/>
            <a:ext cx="6563360" cy="3225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访问者</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表示一个作用于某对象结构中的各元素的操作。它使你可以在不改变各元素的类的前提下定义作用于这些元素的新操作</a:t>
            </a:r>
            <a:endParaRPr lang="zh-CN" altLang="en-US"/>
          </a:p>
        </p:txBody>
      </p:sp>
      <p:pic>
        <p:nvPicPr>
          <p:cNvPr id="6" name="内容占位符 5"/>
          <p:cNvPicPr>
            <a:picLocks noChangeAspect="1"/>
          </p:cNvPicPr>
          <p:nvPr>
            <p:ph idx="10"/>
          </p:nvPr>
        </p:nvPicPr>
        <p:blipFill>
          <a:blip r:embed="rId1"/>
          <a:stretch>
            <a:fillRect/>
          </a:stretch>
        </p:blipFill>
        <p:spPr>
          <a:xfrm>
            <a:off x="2381250" y="2311400"/>
            <a:ext cx="6048375" cy="25857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策略</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定义一系列的算法，把它们一个个封装起来，并且使它们可互相替换。本模式使得算法可以独立于使用它的客户而变化</a:t>
            </a:r>
            <a:endParaRPr lang="zh-CN" altLang="en-US"/>
          </a:p>
        </p:txBody>
      </p:sp>
      <p:pic>
        <p:nvPicPr>
          <p:cNvPr id="5" name="内容占位符 4"/>
          <p:cNvPicPr>
            <a:picLocks noChangeAspect="1"/>
          </p:cNvPicPr>
          <p:nvPr>
            <p:ph idx="10"/>
          </p:nvPr>
        </p:nvPicPr>
        <p:blipFill>
          <a:blip r:embed="rId1"/>
          <a:stretch>
            <a:fillRect/>
          </a:stretch>
        </p:blipFill>
        <p:spPr>
          <a:xfrm>
            <a:off x="2073910" y="2719705"/>
            <a:ext cx="6662420" cy="21621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000">
                <a:sym typeface="+mn-ea"/>
              </a:rPr>
              <a:t>迭代器</a:t>
            </a:r>
            <a:endParaRPr lang="zh-CN" altLang="en-US" sz="2000">
              <a:sym typeface="+mn-ea"/>
            </a:endParaRPr>
          </a:p>
        </p:txBody>
      </p:sp>
      <p:sp>
        <p:nvSpPr>
          <p:cNvPr id="3" name="内容占位符 2"/>
          <p:cNvSpPr>
            <a:spLocks noGrp="1"/>
          </p:cNvSpPr>
          <p:nvPr>
            <p:ph idx="1"/>
          </p:nvPr>
        </p:nvSpPr>
        <p:spPr>
          <a:xfrm>
            <a:off x="2123440" y="1069340"/>
            <a:ext cx="6563360" cy="659765"/>
          </a:xfrm>
        </p:spPr>
        <p:txBody>
          <a:bodyPr/>
          <a:p>
            <a:r>
              <a:rPr lang="zh-CN" altLang="en-US"/>
              <a:t>提供一种方法顺序访问一个聚合对象中各个元素，而又不暴露该对象的内部表示</a:t>
            </a:r>
            <a:endParaRPr lang="zh-CN" altLang="en-US"/>
          </a:p>
        </p:txBody>
      </p:sp>
      <p:pic>
        <p:nvPicPr>
          <p:cNvPr id="6" name="内容占位符 5"/>
          <p:cNvPicPr>
            <a:picLocks noChangeAspect="1"/>
          </p:cNvPicPr>
          <p:nvPr>
            <p:ph idx="10"/>
          </p:nvPr>
        </p:nvPicPr>
        <p:blipFill>
          <a:blip r:embed="rId1"/>
          <a:stretch>
            <a:fillRect/>
          </a:stretch>
        </p:blipFill>
        <p:spPr>
          <a:xfrm>
            <a:off x="2843530" y="1974850"/>
            <a:ext cx="5143500" cy="38862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30065" y="4898390"/>
            <a:ext cx="4900295" cy="746760"/>
          </a:xfrm>
          <a:prstGeom prst="rect">
            <a:avLst/>
          </a:prstGeom>
          <a:noFill/>
        </p:spPr>
        <p:txBody>
          <a:bodyPr wrap="square" rtlCol="0">
            <a:spAutoFit/>
          </a:bodyPr>
          <a:p>
            <a:r>
              <a:rPr lang="en-US" altLang="zh-CN" sz="4000"/>
              <a:t>3Q</a:t>
            </a:r>
            <a:endParaRPr lang="en-US" altLang="zh-CN" sz="4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5045</Words>
  <Application>WPS 演示</Application>
  <PresentationFormat>On-screen Show (4:3)</PresentationFormat>
  <Paragraphs>289</Paragraphs>
  <Slides>44</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44</vt:i4>
      </vt:variant>
    </vt:vector>
  </HeadingPairs>
  <TitlesOfParts>
    <vt:vector size="52" baseType="lpstr">
      <vt:lpstr>Arial</vt:lpstr>
      <vt:lpstr>宋体</vt:lpstr>
      <vt:lpstr>Wingdings</vt:lpstr>
      <vt:lpstr>微软雅黑</vt:lpstr>
      <vt:lpstr>Calibri</vt:lpstr>
      <vt:lpstr>Malgun Gothic</vt:lpstr>
      <vt:lpstr>Office Theme</vt:lpstr>
      <vt:lpstr>Custom Design</vt:lpstr>
      <vt:lpstr>PowerPoint 演示文稿</vt:lpstr>
      <vt:lpstr>PowerPoint 演示文稿</vt:lpstr>
      <vt:lpstr>PowerPoint 演示文稿</vt:lpstr>
      <vt:lpstr>PowerPoint 演示文稿</vt:lpstr>
      <vt:lpstr>PowerPoint 演示文稿</vt:lpstr>
      <vt:lpstr>PowerPoint 演示文稿</vt:lpstr>
      <vt:lpstr>为什么要有模式？</vt:lpstr>
      <vt:lpstr> 1. 泛化（Generalization）</vt:lpstr>
      <vt:lpstr>  2. 实现（Realization）</vt:lpstr>
      <vt:lpstr>3. 关联（Association)</vt:lpstr>
      <vt:lpstr>4. 聚合（Aggregation）</vt:lpstr>
      <vt:lpstr>5. 组合(Composition)</vt:lpstr>
      <vt:lpstr> 6. 依赖(Dependency)</vt:lpstr>
      <vt:lpstr>PowerPoint 演示文稿</vt:lpstr>
      <vt:lpstr>单一职责原则（solid.s）</vt:lpstr>
      <vt:lpstr>开放－封闭原则（solid.o）</vt:lpstr>
      <vt:lpstr>里氏代换原则（solid.l）</vt:lpstr>
      <vt:lpstr>接口隔离原则（solid.i）</vt:lpstr>
      <vt:lpstr>依赖倒置原则（solid.d）</vt:lpstr>
      <vt:lpstr>依赖倒置原则（solid.d）</vt:lpstr>
      <vt:lpstr>迪米特法则</vt:lpstr>
      <vt:lpstr>PowerPoint 演示文稿</vt:lpstr>
      <vt:lpstr>PowerPoint 演示文稿</vt:lpstr>
      <vt:lpstr>抽象工厂</vt:lpstr>
      <vt:lpstr>建造者</vt:lpstr>
      <vt:lpstr>工厂方法</vt:lpstr>
      <vt:lpstr>原型</vt:lpstr>
      <vt:lpstr>PowerPoint 演示文稿</vt:lpstr>
      <vt:lpstr>单例</vt:lpstr>
      <vt:lpstr>适配器</vt:lpstr>
      <vt:lpstr>桥接</vt:lpstr>
      <vt:lpstr>组合</vt:lpstr>
      <vt:lpstr>装饰</vt:lpstr>
      <vt:lpstr>外观</vt:lpstr>
      <vt:lpstr>PowerPoint 演示文稿</vt:lpstr>
      <vt:lpstr>代理</vt:lpstr>
      <vt:lpstr>观察者</vt:lpstr>
      <vt:lpstr>模板方法</vt:lpstr>
      <vt:lpstr>状态</vt:lpstr>
      <vt:lpstr>职责链</vt:lpstr>
      <vt:lpstr>中介者</vt:lpstr>
      <vt:lpstr>访问者</vt:lpstr>
      <vt:lpstr>策略</vt:lpstr>
      <vt:lpstr>PowerPoint 演示文稿</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王海波</cp:lastModifiedBy>
  <cp:revision>91</cp:revision>
  <dcterms:created xsi:type="dcterms:W3CDTF">2014-04-01T16:35:00Z</dcterms:created>
  <dcterms:modified xsi:type="dcterms:W3CDTF">2016-08-29T08:47:27Z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2052-10.1.0.5866</vt:lpwstr>
  </property>
</Properties>
</file>